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21295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9184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274320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Oracle DWH → Delta Lake Migration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234440" y="786384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loads replaced by continuous Spark Structured Streaming (CDC)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0195560" y="402336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08" y="521208"/>
            <a:ext cx="219456" cy="219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0" y="40233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LIVE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02920" y="1572768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856232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17007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DWH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1097280" y="204825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tables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2880360" y="15727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</a:rPr>
              <a:t>→</a:t>
            </a:r>
            <a:endParaRPr lang="en-US" sz="2600" dirty="0"/>
          </a:p>
        </p:txBody>
      </p:sp>
      <p:sp>
        <p:nvSpPr>
          <p:cNvPr id="14" name="Shape 9"/>
          <p:cNvSpPr/>
          <p:nvPr/>
        </p:nvSpPr>
        <p:spPr>
          <a:xfrm>
            <a:off x="3310128" y="1572768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856232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904488" y="17007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CDC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3904488" y="204825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op_type I / U / D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5687568" y="15727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</a:rPr>
              <a:t>→</a:t>
            </a:r>
            <a:endParaRPr lang="en-US" sz="2600" dirty="0"/>
          </a:p>
        </p:txBody>
      </p:sp>
      <p:sp>
        <p:nvSpPr>
          <p:cNvPr id="19" name="Shape 13"/>
          <p:cNvSpPr/>
          <p:nvPr/>
        </p:nvSpPr>
        <p:spPr>
          <a:xfrm>
            <a:off x="6144768" y="1572768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856232"/>
            <a:ext cx="347472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739128" y="17007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 Stream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739128" y="204825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foreachBatch MERGE</a:t>
            </a:r>
            <a:endParaRPr lang="en-US" sz="1050" dirty="0"/>
          </a:p>
        </p:txBody>
      </p:sp>
      <p:sp>
        <p:nvSpPr>
          <p:cNvPr id="23" name="Text 16"/>
          <p:cNvSpPr/>
          <p:nvPr/>
        </p:nvSpPr>
        <p:spPr>
          <a:xfrm>
            <a:off x="8522208" y="1572768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</a:rPr>
              <a:t>→</a:t>
            </a:r>
            <a:endParaRPr lang="en-US" sz="2600" dirty="0"/>
          </a:p>
        </p:txBody>
      </p:sp>
      <p:sp>
        <p:nvSpPr>
          <p:cNvPr id="24" name="Shape 17"/>
          <p:cNvSpPr/>
          <p:nvPr/>
        </p:nvSpPr>
        <p:spPr>
          <a:xfrm>
            <a:off x="8979408" y="1572768"/>
            <a:ext cx="2331720" cy="9144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63500" dist="25400" dir="5400000">
              <a:srgbClr val="000000">
                <a:alpha val="14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856232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9573768" y="170078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9573768" y="204825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3E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Upserted tables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502920" y="2578608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Previously one-time batch loads  —  now kept continuously in sync via streaming upserts (no duplicates).</a:t>
            </a:r>
            <a:endParaRPr lang="en-US" sz="1150" dirty="0"/>
          </a:p>
        </p:txBody>
      </p:sp>
      <p:sp>
        <p:nvSpPr>
          <p:cNvPr id="29" name="Shape 21"/>
          <p:cNvSpPr/>
          <p:nvPr/>
        </p:nvSpPr>
        <p:spPr>
          <a:xfrm>
            <a:off x="502920" y="303580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8F0F5"/>
          </a:solidFill>
          <a:ln/>
        </p:spPr>
      </p:sp>
      <p:sp>
        <p:nvSpPr>
          <p:cNvPr id="30" name="Text 22"/>
          <p:cNvSpPr/>
          <p:nvPr/>
        </p:nvSpPr>
        <p:spPr>
          <a:xfrm>
            <a:off x="502920" y="3108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31" name="Text 23"/>
          <p:cNvSpPr/>
          <p:nvPr/>
        </p:nvSpPr>
        <p:spPr>
          <a:xfrm>
            <a:off x="502920" y="3639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migrated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3319272" y="303580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8F0F5"/>
          </a:solidFill>
          <a:ln/>
        </p:spPr>
      </p:sp>
      <p:sp>
        <p:nvSpPr>
          <p:cNvPr id="33" name="Text 25"/>
          <p:cNvSpPr/>
          <p:nvPr/>
        </p:nvSpPr>
        <p:spPr>
          <a:xfrm>
            <a:off x="3319272" y="3108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34" name="Text 26"/>
          <p:cNvSpPr/>
          <p:nvPr/>
        </p:nvSpPr>
        <p:spPr>
          <a:xfrm>
            <a:off x="3319272" y="3639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succeeded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135624" y="3035808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E8F0F5"/>
          </a:solidFill>
          <a:ln/>
        </p:spPr>
      </p:sp>
      <p:sp>
        <p:nvSpPr>
          <p:cNvPr id="36" name="Text 28"/>
          <p:cNvSpPr/>
          <p:nvPr/>
        </p:nvSpPr>
        <p:spPr>
          <a:xfrm>
            <a:off x="6135624" y="3108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CDC</a:t>
            </a:r>
            <a:endParaRPr lang="en-US" sz="4000" dirty="0"/>
          </a:p>
        </p:txBody>
      </p:sp>
      <p:sp>
        <p:nvSpPr>
          <p:cNvPr id="37" name="Text 29"/>
          <p:cNvSpPr/>
          <p:nvPr/>
        </p:nvSpPr>
        <p:spPr>
          <a:xfrm>
            <a:off x="6135624" y="36393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· Update · Delete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8951976" y="3035808"/>
            <a:ext cx="2724912" cy="914400"/>
          </a:xfrm>
          <a:prstGeom prst="roundRect">
            <a:avLst>
              <a:gd name="adj" fmla="val 8000"/>
            </a:avLst>
          </a:prstGeom>
          <a:solidFill>
            <a:srgbClr val="E8F0F5"/>
          </a:solidFill>
          <a:ln/>
        </p:spPr>
      </p:sp>
      <p:sp>
        <p:nvSpPr>
          <p:cNvPr id="39" name="Text 31"/>
          <p:cNvSpPr/>
          <p:nvPr/>
        </p:nvSpPr>
        <p:spPr>
          <a:xfrm>
            <a:off x="8951976" y="3108960"/>
            <a:ext cx="2724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24×7</a:t>
            </a:r>
            <a:endParaRPr lang="en-US" sz="4000" dirty="0"/>
          </a:p>
        </p:txBody>
      </p:sp>
      <p:sp>
        <p:nvSpPr>
          <p:cNvPr id="40" name="Text 32"/>
          <p:cNvSpPr/>
          <p:nvPr/>
        </p:nvSpPr>
        <p:spPr>
          <a:xfrm>
            <a:off x="8951976" y="3639312"/>
            <a:ext cx="2724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sync</a:t>
            </a:r>
            <a:endParaRPr lang="en-US" sz="1100" dirty="0"/>
          </a:p>
        </p:txBody>
      </p:sp>
      <p:sp>
        <p:nvSpPr>
          <p:cNvPr id="41" name="Text 33"/>
          <p:cNvSpPr/>
          <p:nvPr/>
        </p:nvSpPr>
        <p:spPr>
          <a:xfrm>
            <a:off x="502920" y="42245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streaming jobs</a:t>
            </a:r>
            <a:endParaRPr lang="en-US" sz="1500" dirty="0"/>
          </a:p>
        </p:txBody>
      </p:sp>
      <p:sp>
        <p:nvSpPr>
          <p:cNvPr id="42" name="Shape 34"/>
          <p:cNvSpPr/>
          <p:nvPr/>
        </p:nvSpPr>
        <p:spPr>
          <a:xfrm>
            <a:off x="502920" y="463600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4773168"/>
            <a:ext cx="182880" cy="18288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923544" y="46360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cstb_contract_event_log</a:t>
            </a:r>
            <a:endParaRPr lang="en-US" sz="1150" dirty="0"/>
          </a:p>
        </p:txBody>
      </p:sp>
      <p:sp>
        <p:nvSpPr>
          <p:cNvPr id="45" name="Shape 36"/>
          <p:cNvSpPr/>
          <p:nvPr/>
        </p:nvSpPr>
        <p:spPr>
          <a:xfrm>
            <a:off x="4370832" y="463600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7136" y="4773168"/>
            <a:ext cx="182880" cy="18288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4791456" y="46360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sttb_record_log</a:t>
            </a:r>
            <a:endParaRPr lang="en-US" sz="1150" dirty="0"/>
          </a:p>
        </p:txBody>
      </p:sp>
      <p:sp>
        <p:nvSpPr>
          <p:cNvPr id="48" name="Shape 38"/>
          <p:cNvSpPr/>
          <p:nvPr/>
        </p:nvSpPr>
        <p:spPr>
          <a:xfrm>
            <a:off x="8238744" y="4636008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048" y="4773168"/>
            <a:ext cx="182880" cy="182880"/>
          </a:xfrm>
          <a:prstGeom prst="rect">
            <a:avLst/>
          </a:prstGeom>
        </p:spPr>
      </p:pic>
      <p:sp>
        <p:nvSpPr>
          <p:cNvPr id="50" name="Text 39"/>
          <p:cNvSpPr/>
          <p:nvPr/>
        </p:nvSpPr>
        <p:spPr>
          <a:xfrm>
            <a:off x="8659368" y="463600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citb_account_ude_values</a:t>
            </a:r>
            <a:endParaRPr lang="en-US" sz="1150" dirty="0"/>
          </a:p>
        </p:txBody>
      </p:sp>
      <p:sp>
        <p:nvSpPr>
          <p:cNvPr id="51" name="Shape 40"/>
          <p:cNvSpPr/>
          <p:nvPr/>
        </p:nvSpPr>
        <p:spPr>
          <a:xfrm>
            <a:off x="502920" y="5221224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pic>
        <p:nvPicPr>
          <p:cNvPr id="5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224" y="5358384"/>
            <a:ext cx="182880" cy="182880"/>
          </a:xfrm>
          <a:prstGeom prst="rect">
            <a:avLst/>
          </a:prstGeom>
        </p:spPr>
      </p:pic>
      <p:sp>
        <p:nvSpPr>
          <p:cNvPr id="53" name="Text 41"/>
          <p:cNvSpPr/>
          <p:nvPr/>
        </p:nvSpPr>
        <p:spPr>
          <a:xfrm>
            <a:off x="923544" y="522122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cstm_function_userdef_fields</a:t>
            </a:r>
            <a:endParaRPr lang="en-US" sz="1150" dirty="0"/>
          </a:p>
        </p:txBody>
      </p:sp>
      <p:sp>
        <p:nvSpPr>
          <p:cNvPr id="54" name="Shape 42"/>
          <p:cNvSpPr/>
          <p:nvPr/>
        </p:nvSpPr>
        <p:spPr>
          <a:xfrm>
            <a:off x="4370832" y="5221224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pic>
        <p:nvPicPr>
          <p:cNvPr id="5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17136" y="5358384"/>
            <a:ext cx="182880" cy="182880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4791456" y="522122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citb_amount_paid</a:t>
            </a:r>
            <a:endParaRPr lang="en-US" sz="1150" dirty="0"/>
          </a:p>
        </p:txBody>
      </p:sp>
      <p:sp>
        <p:nvSpPr>
          <p:cNvPr id="57" name="Shape 44"/>
          <p:cNvSpPr/>
          <p:nvPr/>
        </p:nvSpPr>
        <p:spPr>
          <a:xfrm>
            <a:off x="8238744" y="5221224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pic>
        <p:nvPicPr>
          <p:cNvPr id="5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85048" y="5358384"/>
            <a:ext cx="182880" cy="182880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8659368" y="522122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citb_account_parties</a:t>
            </a:r>
            <a:endParaRPr lang="en-US" sz="1150" dirty="0"/>
          </a:p>
        </p:txBody>
      </p:sp>
      <p:sp>
        <p:nvSpPr>
          <p:cNvPr id="60" name="Shape 46"/>
          <p:cNvSpPr/>
          <p:nvPr/>
        </p:nvSpPr>
        <p:spPr>
          <a:xfrm>
            <a:off x="502920" y="580644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pic>
        <p:nvPicPr>
          <p:cNvPr id="6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9224" y="5943600"/>
            <a:ext cx="182880" cy="182880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923544" y="5806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cftb_contract_charges</a:t>
            </a:r>
            <a:endParaRPr lang="en-US" sz="1150" dirty="0"/>
          </a:p>
        </p:txBody>
      </p:sp>
      <p:sp>
        <p:nvSpPr>
          <p:cNvPr id="63" name="Shape 48"/>
          <p:cNvSpPr/>
          <p:nvPr/>
        </p:nvSpPr>
        <p:spPr>
          <a:xfrm>
            <a:off x="4370832" y="580644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pic>
        <p:nvPicPr>
          <p:cNvPr id="6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17136" y="5943600"/>
            <a:ext cx="182880" cy="182880"/>
          </a:xfrm>
          <a:prstGeom prst="rect">
            <a:avLst/>
          </a:prstGeom>
        </p:spPr>
      </p:pic>
      <p:sp>
        <p:nvSpPr>
          <p:cNvPr id="65" name="Text 49"/>
          <p:cNvSpPr/>
          <p:nvPr/>
        </p:nvSpPr>
        <p:spPr>
          <a:xfrm>
            <a:off x="4791456" y="5806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glmismapping2</a:t>
            </a:r>
            <a:endParaRPr lang="en-US" sz="1150" dirty="0"/>
          </a:p>
        </p:txBody>
      </p:sp>
      <p:sp>
        <p:nvSpPr>
          <p:cNvPr id="66" name="Shape 50"/>
          <p:cNvSpPr/>
          <p:nvPr/>
        </p:nvSpPr>
        <p:spPr>
          <a:xfrm>
            <a:off x="8238744" y="5806440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pic>
        <p:nvPicPr>
          <p:cNvPr id="6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85048" y="5943600"/>
            <a:ext cx="182880" cy="182880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8659368" y="58064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getm_liab_cust</a:t>
            </a:r>
            <a:endParaRPr lang="en-US" sz="1150" dirty="0"/>
          </a:p>
        </p:txBody>
      </p:sp>
      <p:sp>
        <p:nvSpPr>
          <p:cNvPr id="69" name="Shape 52"/>
          <p:cNvSpPr/>
          <p:nvPr/>
        </p:nvSpPr>
        <p:spPr>
          <a:xfrm>
            <a:off x="502920" y="639165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pic>
        <p:nvPicPr>
          <p:cNvPr id="7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49224" y="6528816"/>
            <a:ext cx="182880" cy="182880"/>
          </a:xfrm>
          <a:prstGeom prst="rect">
            <a:avLst/>
          </a:prstGeom>
        </p:spPr>
      </p:pic>
      <p:sp>
        <p:nvSpPr>
          <p:cNvPr id="71" name="Text 53"/>
          <p:cNvSpPr/>
          <p:nvPr/>
        </p:nvSpPr>
        <p:spPr>
          <a:xfrm>
            <a:off x="923544" y="639165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gltm_mis_code</a:t>
            </a:r>
            <a:endParaRPr lang="en-US" sz="1150" dirty="0"/>
          </a:p>
        </p:txBody>
      </p:sp>
      <p:sp>
        <p:nvSpPr>
          <p:cNvPr id="72" name="Shape 54"/>
          <p:cNvSpPr/>
          <p:nvPr/>
        </p:nvSpPr>
        <p:spPr>
          <a:xfrm>
            <a:off x="4370832" y="639165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pic>
        <p:nvPicPr>
          <p:cNvPr id="7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17136" y="6528816"/>
            <a:ext cx="182880" cy="182880"/>
          </a:xfrm>
          <a:prstGeom prst="rect">
            <a:avLst/>
          </a:prstGeom>
        </p:spPr>
      </p:pic>
      <p:sp>
        <p:nvSpPr>
          <p:cNvPr id="74" name="Text 55"/>
          <p:cNvSpPr/>
          <p:nvPr/>
        </p:nvSpPr>
        <p:spPr>
          <a:xfrm>
            <a:off x="4791456" y="639165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cstb_contract</a:t>
            </a:r>
            <a:endParaRPr lang="en-US" sz="1150" dirty="0"/>
          </a:p>
        </p:txBody>
      </p:sp>
      <p:sp>
        <p:nvSpPr>
          <p:cNvPr id="75" name="Shape 56"/>
          <p:cNvSpPr/>
          <p:nvPr/>
        </p:nvSpPr>
        <p:spPr>
          <a:xfrm>
            <a:off x="8238744" y="6391656"/>
            <a:ext cx="37033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3DEE6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8000"/>
              </a:srgbClr>
            </a:outerShdw>
          </a:effectLst>
        </p:spPr>
      </p:sp>
      <p:pic>
        <p:nvPicPr>
          <p:cNvPr id="7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385048" y="6528816"/>
            <a:ext cx="182880" cy="182880"/>
          </a:xfrm>
          <a:prstGeom prst="rect">
            <a:avLst/>
          </a:prstGeom>
        </p:spPr>
      </p:pic>
      <p:sp>
        <p:nvSpPr>
          <p:cNvPr id="77" name="Text 57"/>
          <p:cNvSpPr/>
          <p:nvPr/>
        </p:nvSpPr>
        <p:spPr>
          <a:xfrm>
            <a:off x="8659368" y="639165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cstm_contract_userdef_fields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Oracle DWH → Delta Streaming Migration</dc:title>
  <dc:subject>PptxGenJS Presentation</dc:subject>
  <dc:creator>Data Engineering</dc:creator>
  <cp:lastModifiedBy>Data Engineering</cp:lastModifiedBy>
  <cp:revision>1</cp:revision>
  <dcterms:created xsi:type="dcterms:W3CDTF">2026-07-02T07:21:05Z</dcterms:created>
  <dcterms:modified xsi:type="dcterms:W3CDTF">2026-07-02T07:21:05Z</dcterms:modified>
</cp:coreProperties>
</file>