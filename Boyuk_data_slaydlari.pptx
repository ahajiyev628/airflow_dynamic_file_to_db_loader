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304" r:id="rId25"/>
    <p:sldId id="30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A2BE"/>
    <a:srgbClr val="878CE2"/>
    <a:srgbClr val="3190E3"/>
    <a:srgbClr val="C5C9CE"/>
    <a:srgbClr val="908CE1"/>
    <a:srgbClr val="DCA5BA"/>
    <a:srgbClr val="0057C2"/>
    <a:srgbClr val="595959"/>
    <a:srgbClr val="8DC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98" d="100"/>
          <a:sy n="98" d="100"/>
        </p:scale>
        <p:origin x="26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4" Type="http://schemas.openxmlformats.org/officeDocument/2006/relationships/tableStyles" Target="tableStyles.xml"/><Relationship Id="rId23" Type="http://schemas.openxmlformats.org/officeDocument/2006/relationships/theme" Target="theme/theme1.xml"/><Relationship Id="rId22" Type="http://schemas.openxmlformats.org/officeDocument/2006/relationships/viewProps" Target="viewProps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7CDA0-D630-4CDF-939F-C4413E0E73E2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CE5CC4-4C97-4A66-9714-0F2F7FD83E0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ADE8A-7EEF-43DE-B228-8A724B88D864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B3766-3024-4DD4-98CB-93018DC3400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0515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095" y="172720"/>
            <a:ext cx="977966" cy="4428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637263" y="6591931"/>
            <a:ext cx="551689" cy="18466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fld id="{E1AA5AB0-6203-4D00-A82E-C2E23293F6BE}" type="slidenum">
              <a:rPr lang="en-US" sz="1200" kern="1200" noProof="0" smtClean="0">
                <a:solidFill>
                  <a:srgbClr val="0070D4"/>
                </a:solidFill>
                <a:latin typeface="Corbel" panose="020B0503020204020204" pitchFamily="34" charset="0"/>
                <a:ea typeface="+mn-ea"/>
                <a:cs typeface="+mn-cs"/>
              </a:rPr>
              <a:t>11</a:t>
            </a:fld>
            <a:endParaRPr lang="en-US" sz="1200" kern="1200" noProof="0" dirty="0">
              <a:solidFill>
                <a:srgbClr val="0070D4"/>
              </a:solidFill>
              <a:latin typeface="Corbel" panose="020B0503020204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4A298-8203-4A20-A8E0-B92CFCBBF078}"/>
              </a:ext>
            </a:extLst>
          </p:cNvPr>
          <p:cNvSpPr/>
          <p:nvPr/>
        </p:nvSpPr>
        <p:spPr>
          <a:xfrm>
            <a:off x="958700" y="246269"/>
            <a:ext cx="3365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z-Latn-AZ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Böyük datanın şirkətimizdəki rolu</a:t>
            </a:r>
            <a:endParaRPr lang="az-Latn-AZ" altLang="en-US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855F1D-7CB0-492E-9DC0-B118C0F2ACFF}"/>
              </a:ext>
            </a:extLst>
          </p:cNvPr>
          <p:cNvSpPr/>
          <p:nvPr/>
        </p:nvSpPr>
        <p:spPr>
          <a:xfrm>
            <a:off x="958699" y="1115088"/>
            <a:ext cx="1067856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b="1" dirty="0"/>
              <a:t>Böyük data (Big Data) </a:t>
            </a:r>
            <a:r>
              <a:rPr lang="az-Latn-AZ" dirty="0"/>
              <a:t>şirkətimizin xam və sürətlə artan həcmdə məlumatları etibarlı, biznes üçün hazır vəziyyətdə olan anlayışlara çevirməsinin əsasını təşkil edir.</a:t>
            </a:r>
          </a:p>
          <a:p>
            <a:endParaRPr lang="az-Latn-AZ" dirty="0"/>
          </a:p>
          <a:p>
            <a:r>
              <a:rPr lang="az-Latn-AZ" b="1" dirty="0"/>
              <a:t>Bizim üçün niyə vacibdir: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/>
              <a:t>Məhsul, risk və müştəri ilə işləyən komandalarda data əsaslı qərarların qəbulunu mümkün edir.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/>
              <a:t>Müxtəlif sistemlərdən (əməliyyatlar, mobil tətbiq, veb, dəstək) gələn məlumatları vahid mənzərədə birləşdirir.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/>
              <a:t>Biznes üçün real vaxt və tarixi hesabatları, dashboard-ları və analitikanı işə salır.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/>
              <a:t>Böyük və keyfiyyətli datasetlərə əsaslanan maşın öyrənməsi və süni intellekt istifadə hallarını dəstəkləyir.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/>
              <a:t>Personallaşdırma və daha sürətli, dəqiq anlayışlar vasitəsilə müştəri təcrübəsini yaxşılaşdırır.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/>
              <a:t>Data həcmi artdıqca məlumatların təhlükəsizliyini, idarə olunmasını (governance) və uyğunluğunu gücləndirir.</a:t>
            </a:r>
          </a:p>
          <a:p>
            <a:endParaRPr lang="az-Latn-AZ" dirty="0"/>
          </a:p>
          <a:p>
            <a:r>
              <a:rPr lang="az-Latn-AZ" b="1" dirty="0"/>
              <a:t>Qısaca, </a:t>
            </a:r>
            <a:r>
              <a:rPr lang="az-Latn-AZ" dirty="0"/>
              <a:t>böyük data ayrıca bir funksiya deyil — bütün digər komandaların üzərində qurduğu infrastruktur qatıdır.</a:t>
            </a:r>
          </a:p>
        </p:txBody>
      </p:sp>
    </p:spTree>
    <p:extLst>
      <p:ext uri="{BB962C8B-B14F-4D97-AF65-F5344CB8AC3E}">
        <p14:creationId xmlns:p14="http://schemas.microsoft.com/office/powerpoint/2010/main" val="2308564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0515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095" y="172720"/>
            <a:ext cx="977966" cy="4428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637263" y="6591931"/>
            <a:ext cx="551689" cy="18466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fld id="{E1AA5AB0-6203-4D00-A82E-C2E23293F6BE}" type="slidenum">
              <a:rPr lang="en-US" sz="1200" kern="1200" noProof="0" smtClean="0">
                <a:solidFill>
                  <a:srgbClr val="0070D4"/>
                </a:solidFill>
                <a:latin typeface="Corbel" panose="020B0503020204020204" pitchFamily="34" charset="0"/>
                <a:ea typeface="+mn-ea"/>
                <a:cs typeface="+mn-cs"/>
              </a:rPr>
              <a:t>11</a:t>
            </a:fld>
            <a:endParaRPr lang="en-US" sz="1200" kern="1200" noProof="0" dirty="0">
              <a:solidFill>
                <a:srgbClr val="0070D4"/>
              </a:solidFill>
              <a:latin typeface="Corbel" panose="020B0503020204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4A298-8203-4A20-A8E0-B92CFCBBF078}"/>
              </a:ext>
            </a:extLst>
          </p:cNvPr>
          <p:cNvSpPr/>
          <p:nvPr/>
        </p:nvSpPr>
        <p:spPr>
          <a:xfrm>
            <a:off x="958700" y="246269"/>
            <a:ext cx="3365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z-Latn-AZ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Böyük data mühəndisliyi alətlərimiz</a:t>
            </a:r>
            <a:endParaRPr lang="az-Latn-AZ" altLang="en-US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855F1D-7CB0-492E-9DC0-B118C0F2ACFF}"/>
              </a:ext>
            </a:extLst>
          </p:cNvPr>
          <p:cNvSpPr/>
          <p:nvPr/>
        </p:nvSpPr>
        <p:spPr>
          <a:xfrm>
            <a:off x="958699" y="1115088"/>
            <a:ext cx="1067856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b="1" dirty="0"/>
              <a:t>Böyük data mühəndisləri olaraq, </a:t>
            </a:r>
            <a:r>
              <a:rPr lang="az-Latn-AZ" dirty="0"/>
              <a:t>məlumatları etibarlı və geniş miqyasda toplamaq, emal etmək, saxlamaq və çatdırmaq üçün ümumi, müasir texnologiya yığınından istifadə edirik.</a:t>
            </a:r>
          </a:p>
          <a:p>
            <a:endParaRPr lang="az-Latn-AZ" dirty="0"/>
          </a:p>
          <a:p>
            <a:r>
              <a:rPr lang="az-Latn-AZ" b="1" dirty="0"/>
              <a:t>Məlumatların toplanması və axını (streaming):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/>
              <a:t>Apache Kafka — sistemlər arasında real vaxt hadisə axını və mesajlaşma üçün.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/>
              <a:t>Apache NiFi / fərdi konnektorlar — batch və streaming məlumat toplanması üçün.</a:t>
            </a:r>
          </a:p>
          <a:p>
            <a:r>
              <a:rPr lang="az-Latn-AZ" b="1" dirty="0"/>
              <a:t>Məlumatların emalı: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/>
              <a:t>Apache Spark — geniş miqyaslı paylanmış məlumat emalı (ETL/ELT) üçün.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/>
              <a:t>Apache Airflow — data axınlarının (pipeline) orkestrasiyası və planlaşdırılması üçün.</a:t>
            </a:r>
          </a:p>
          <a:p>
            <a:r>
              <a:rPr lang="az-Latn-AZ" b="1" dirty="0"/>
              <a:t>Saxlama və anbarlaşdırma: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/>
              <a:t>Data lake-lər (məsələn, Hadoop/HDFS və ya bulud obyekt saxlama) — xam və yarımstrukturlaşmış data üçün.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/>
              <a:t>Snowflake / bulud data anbarları — emal olunmuş, sorğuya hazır datasetlər üçün.</a:t>
            </a:r>
          </a:p>
          <a:p>
            <a:r>
              <a:rPr lang="az-Latn-AZ" b="1" dirty="0"/>
              <a:t>Dillər və köməkçi alətlər: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/>
              <a:t>SQL və Python — çevrilmə, avtomatlaşdırma və analiz üçün.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/>
              <a:t>Docker/Kubernetes və Git — yerləşdirmə, miqyaslanma və versiya nəzarəti üçün.</a:t>
            </a:r>
          </a:p>
        </p:txBody>
      </p:sp>
    </p:spTree>
    <p:extLst>
      <p:ext uri="{BB962C8B-B14F-4D97-AF65-F5344CB8AC3E}">
        <p14:creationId xmlns:p14="http://schemas.microsoft.com/office/powerpoint/2010/main" val="230856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506</Words>
  <Application>Microsoft Office PowerPoint</Application>
  <PresentationFormat>Widescreen</PresentationFormat>
  <Paragraphs>75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administrator1</dc:creator>
  <cp:lastModifiedBy>Husniyya Rzayeva</cp:lastModifiedBy>
  <cp:revision>92</cp:revision>
  <dcterms:created xsi:type="dcterms:W3CDTF">2025-12-10T07:52:00Z</dcterms:created>
  <dcterms:modified xsi:type="dcterms:W3CDTF">2026-06-29T13:17:41Z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ED0AFE6404234BFBBA5744E112024D30_13</vt:lpwstr>
  </property>
</Properties>
</file>