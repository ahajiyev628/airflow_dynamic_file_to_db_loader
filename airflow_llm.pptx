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825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609600" y="5943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00" b="1" dirty="0">
                <a:solidFill>
                  <a:srgbClr val="2231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Retry Loop</a:t>
            </a:r>
            <a:endParaRPr lang="en-US" sz="3400" dirty="0"/>
          </a:p>
        </p:txBody>
      </p:sp>
      <p:sp>
        <p:nvSpPr>
          <p:cNvPr id="74" name="Text 1"/>
          <p:cNvSpPr/>
          <p:nvPr/>
        </p:nvSpPr>
        <p:spPr>
          <a:xfrm>
            <a:off x="609600" y="11430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6E7D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job that runs out of memory comes back with more of it — without anyone touching the config.</a:t>
            </a:r>
            <a:endParaRPr lang="en-US" sz="1300" dirty="0"/>
          </a:p>
        </p:txBody>
      </p:sp>
      <p:sp>
        <p:nvSpPr>
          <p:cNvPr id="75" name="Shape 2"/>
          <p:cNvSpPr/>
          <p:nvPr/>
        </p:nvSpPr>
        <p:spPr>
          <a:xfrm>
            <a:off x="678180" y="228600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D6DA"/>
            </a:solidFill>
            <a:prstDash val="solid"/>
          </a:ln>
          <a:effectLst>
            <a:outerShdw blurRad="63500" dist="15240" dir="5400000" algn="bl" rotWithShape="0">
              <a:srgbClr val="A8B9BE">
                <a:alpha val="30000"/>
              </a:srgbClr>
            </a:outerShdw>
          </a:effectLst>
        </p:spPr>
      </p:sp>
      <p:pic>
        <p:nvPicPr>
          <p:cNvPr id="7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" y="2491740"/>
            <a:ext cx="548640" cy="548640"/>
          </a:xfrm>
          <a:prstGeom prst="rect">
            <a:avLst/>
          </a:prstGeom>
        </p:spPr>
      </p:pic>
      <p:sp>
        <p:nvSpPr>
          <p:cNvPr id="77" name="Text 3"/>
          <p:cNvSpPr/>
          <p:nvPr/>
        </p:nvSpPr>
        <p:spPr>
          <a:xfrm>
            <a:off x="198120" y="339242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2231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Airflow submits</a:t>
            </a:r>
            <a:endParaRPr lang="en-US" sz="1300" dirty="0"/>
          </a:p>
        </p:txBody>
      </p:sp>
      <p:sp>
        <p:nvSpPr>
          <p:cNvPr id="78" name="Text 4"/>
          <p:cNvSpPr/>
          <p:nvPr/>
        </p:nvSpPr>
        <p:spPr>
          <a:xfrm>
            <a:off x="198120" y="363016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6E7D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SparkKubernetesOperator</a:t>
            </a:r>
            <a:endParaRPr lang="en-US" sz="1050" dirty="0"/>
          </a:p>
        </p:txBody>
      </p:sp>
      <p:sp>
        <p:nvSpPr>
          <p:cNvPr id="79" name="Shape 5"/>
          <p:cNvSpPr/>
          <p:nvPr/>
        </p:nvSpPr>
        <p:spPr>
          <a:xfrm>
            <a:off x="1839468" y="2683764"/>
            <a:ext cx="612648" cy="164592"/>
          </a:xfrm>
          <a:prstGeom prst="rightArrow">
            <a:avLst/>
          </a:prstGeom>
          <a:solidFill>
            <a:srgbClr val="C9D6DA"/>
          </a:solidFill>
          <a:ln w="12700">
            <a:solidFill>
              <a:srgbClr val="C9D6DA"/>
            </a:solidFill>
            <a:prstDash val="solid"/>
          </a:ln>
        </p:spPr>
      </p:sp>
      <p:sp>
        <p:nvSpPr>
          <p:cNvPr id="80" name="Shape 6"/>
          <p:cNvSpPr/>
          <p:nvPr/>
        </p:nvSpPr>
        <p:spPr>
          <a:xfrm>
            <a:off x="2653284" y="228600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D6DA"/>
            </a:solidFill>
            <a:prstDash val="solid"/>
          </a:ln>
          <a:effectLst>
            <a:outerShdw blurRad="63500" dist="15240" dir="5400000" algn="bl" rotWithShape="0">
              <a:srgbClr val="A8B9BE">
                <a:alpha val="30000"/>
              </a:srgbClr>
            </a:outerShdw>
          </a:effectLst>
        </p:spPr>
      </p:sp>
      <p:pic>
        <p:nvPicPr>
          <p:cNvPr id="8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024" y="2491740"/>
            <a:ext cx="548640" cy="548640"/>
          </a:xfrm>
          <a:prstGeom prst="rect">
            <a:avLst/>
          </a:prstGeom>
        </p:spPr>
      </p:pic>
      <p:sp>
        <p:nvSpPr>
          <p:cNvPr id="82" name="Text 7"/>
          <p:cNvSpPr/>
          <p:nvPr/>
        </p:nvSpPr>
        <p:spPr>
          <a:xfrm>
            <a:off x="2173224" y="339242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2231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Pod created</a:t>
            </a:r>
            <a:endParaRPr lang="en-US" sz="1300" dirty="0"/>
          </a:p>
        </p:txBody>
      </p:sp>
      <p:sp>
        <p:nvSpPr>
          <p:cNvPr id="83" name="Text 8"/>
          <p:cNvSpPr/>
          <p:nvPr/>
        </p:nvSpPr>
        <p:spPr>
          <a:xfrm>
            <a:off x="2173224" y="363016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6E7D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driver + executors</a:t>
            </a:r>
            <a:endParaRPr lang="en-US" sz="1050" dirty="0"/>
          </a:p>
        </p:txBody>
      </p:sp>
      <p:sp>
        <p:nvSpPr>
          <p:cNvPr id="84" name="Shape 9"/>
          <p:cNvSpPr/>
          <p:nvPr/>
        </p:nvSpPr>
        <p:spPr>
          <a:xfrm>
            <a:off x="3814572" y="2683764"/>
            <a:ext cx="612648" cy="164592"/>
          </a:xfrm>
          <a:prstGeom prst="rightArrow">
            <a:avLst/>
          </a:prstGeom>
          <a:solidFill>
            <a:srgbClr val="C9D6DA"/>
          </a:solidFill>
          <a:ln w="12700">
            <a:solidFill>
              <a:srgbClr val="C9D6DA"/>
            </a:solidFill>
            <a:prstDash val="solid"/>
          </a:ln>
        </p:spPr>
      </p:sp>
      <p:sp>
        <p:nvSpPr>
          <p:cNvPr id="85" name="Shape 10"/>
          <p:cNvSpPr/>
          <p:nvPr/>
        </p:nvSpPr>
        <p:spPr>
          <a:xfrm>
            <a:off x="4628388" y="228600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D6DA"/>
            </a:solidFill>
            <a:prstDash val="solid"/>
          </a:ln>
          <a:effectLst>
            <a:outerShdw blurRad="63500" dist="15240" dir="5400000" algn="bl" rotWithShape="0">
              <a:srgbClr val="A8B9BE">
                <a:alpha val="30000"/>
              </a:srgbClr>
            </a:outerShdw>
          </a:effectLst>
        </p:spPr>
      </p:sp>
      <p:pic>
        <p:nvPicPr>
          <p:cNvPr id="8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128" y="2491740"/>
            <a:ext cx="548640" cy="548640"/>
          </a:xfrm>
          <a:prstGeom prst="rect">
            <a:avLst/>
          </a:prstGeom>
        </p:spPr>
      </p:pic>
      <p:sp>
        <p:nvSpPr>
          <p:cNvPr id="87" name="Text 11"/>
          <p:cNvSpPr/>
          <p:nvPr/>
        </p:nvSpPr>
        <p:spPr>
          <a:xfrm>
            <a:off x="4148328" y="339242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2231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Spark runs</a:t>
            </a:r>
            <a:endParaRPr lang="en-US" sz="1300" dirty="0"/>
          </a:p>
        </p:txBody>
      </p:sp>
      <p:sp>
        <p:nvSpPr>
          <p:cNvPr id="88" name="Text 12"/>
          <p:cNvSpPr/>
          <p:nvPr/>
        </p:nvSpPr>
        <p:spPr>
          <a:xfrm>
            <a:off x="4148328" y="363016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6E7D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source, writes target</a:t>
            </a:r>
            <a:endParaRPr lang="en-US" sz="1050" dirty="0"/>
          </a:p>
        </p:txBody>
      </p:sp>
      <p:sp>
        <p:nvSpPr>
          <p:cNvPr id="89" name="Shape 13"/>
          <p:cNvSpPr/>
          <p:nvPr/>
        </p:nvSpPr>
        <p:spPr>
          <a:xfrm>
            <a:off x="5789676" y="2683764"/>
            <a:ext cx="612648" cy="164592"/>
          </a:xfrm>
          <a:prstGeom prst="rightArrow">
            <a:avLst/>
          </a:prstGeom>
          <a:solidFill>
            <a:srgbClr val="C9D6DA"/>
          </a:solidFill>
          <a:ln w="12700">
            <a:solidFill>
              <a:srgbClr val="C9D6DA"/>
            </a:solidFill>
            <a:prstDash val="solid"/>
          </a:ln>
        </p:spPr>
      </p:sp>
      <p:sp>
        <p:nvSpPr>
          <p:cNvPr id="90" name="Shape 14"/>
          <p:cNvSpPr/>
          <p:nvPr/>
        </p:nvSpPr>
        <p:spPr>
          <a:xfrm>
            <a:off x="6603492" y="228600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D6DA"/>
            </a:solidFill>
            <a:prstDash val="solid"/>
          </a:ln>
          <a:effectLst>
            <a:outerShdw blurRad="63500" dist="15240" dir="5400000" algn="bl" rotWithShape="0">
              <a:srgbClr val="A8B9BE">
                <a:alpha val="30000"/>
              </a:srgbClr>
            </a:outerShdw>
          </a:effectLst>
        </p:spPr>
      </p:sp>
      <p:pic>
        <p:nvPicPr>
          <p:cNvPr id="9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9232" y="2491740"/>
            <a:ext cx="548640" cy="548640"/>
          </a:xfrm>
          <a:prstGeom prst="rect">
            <a:avLst/>
          </a:prstGeom>
        </p:spPr>
      </p:pic>
      <p:sp>
        <p:nvSpPr>
          <p:cNvPr id="92" name="Text 15"/>
          <p:cNvSpPr/>
          <p:nvPr/>
        </p:nvSpPr>
        <p:spPr>
          <a:xfrm>
            <a:off x="6123432" y="339242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 err="1" smtClean="0">
                <a:solidFill>
                  <a:srgbClr val="2231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OOMKilled</a:t>
            </a:r>
            <a:endParaRPr lang="en-US" sz="1300" b="1" dirty="0" smtClean="0">
              <a:solidFill>
                <a:srgbClr val="2231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6123432" y="363016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6E7D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exit code 137</a:t>
            </a:r>
            <a:endParaRPr lang="en-US" sz="1050" dirty="0"/>
          </a:p>
        </p:txBody>
      </p:sp>
      <p:sp>
        <p:nvSpPr>
          <p:cNvPr id="94" name="Shape 17"/>
          <p:cNvSpPr/>
          <p:nvPr/>
        </p:nvSpPr>
        <p:spPr>
          <a:xfrm>
            <a:off x="7764780" y="2683764"/>
            <a:ext cx="612648" cy="164592"/>
          </a:xfrm>
          <a:prstGeom prst="rightArrow">
            <a:avLst/>
          </a:prstGeom>
          <a:solidFill>
            <a:srgbClr val="C9D6DA"/>
          </a:solidFill>
          <a:ln w="12700">
            <a:solidFill>
              <a:srgbClr val="C9D6DA"/>
            </a:solidFill>
            <a:prstDash val="solid"/>
          </a:ln>
        </p:spPr>
      </p:sp>
      <p:sp>
        <p:nvSpPr>
          <p:cNvPr id="95" name="Shape 18"/>
          <p:cNvSpPr/>
          <p:nvPr/>
        </p:nvSpPr>
        <p:spPr>
          <a:xfrm>
            <a:off x="8578596" y="228600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D6DA"/>
            </a:solidFill>
            <a:prstDash val="solid"/>
          </a:ln>
          <a:effectLst>
            <a:outerShdw blurRad="63500" dist="15240" dir="5400000" algn="bl" rotWithShape="0">
              <a:srgbClr val="A8B9BE">
                <a:alpha val="30000"/>
              </a:srgbClr>
            </a:outerShdw>
          </a:effectLst>
        </p:spPr>
      </p:sp>
      <p:pic>
        <p:nvPicPr>
          <p:cNvPr id="9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4336" y="2491740"/>
            <a:ext cx="548640" cy="548640"/>
          </a:xfrm>
          <a:prstGeom prst="rect">
            <a:avLst/>
          </a:prstGeom>
        </p:spPr>
      </p:pic>
      <p:sp>
        <p:nvSpPr>
          <p:cNvPr id="97" name="Text 19"/>
          <p:cNvSpPr/>
          <p:nvPr/>
        </p:nvSpPr>
        <p:spPr>
          <a:xfrm>
            <a:off x="8098536" y="339242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2231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reads the log</a:t>
            </a:r>
            <a:endParaRPr lang="en-US" sz="1300" dirty="0"/>
          </a:p>
        </p:txBody>
      </p:sp>
      <p:sp>
        <p:nvSpPr>
          <p:cNvPr id="98" name="Text 20"/>
          <p:cNvSpPr/>
          <p:nvPr/>
        </p:nvSpPr>
        <p:spPr>
          <a:xfrm>
            <a:off x="8098536" y="363016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6E7D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diagnoses the failure</a:t>
            </a:r>
            <a:endParaRPr lang="en-US" sz="1050" dirty="0"/>
          </a:p>
        </p:txBody>
      </p:sp>
      <p:sp>
        <p:nvSpPr>
          <p:cNvPr id="99" name="Shape 21"/>
          <p:cNvSpPr/>
          <p:nvPr/>
        </p:nvSpPr>
        <p:spPr>
          <a:xfrm>
            <a:off x="9739884" y="2683764"/>
            <a:ext cx="612648" cy="164592"/>
          </a:xfrm>
          <a:prstGeom prst="rightArrow">
            <a:avLst/>
          </a:prstGeom>
          <a:solidFill>
            <a:srgbClr val="C9D6DA"/>
          </a:solidFill>
          <a:ln w="12700">
            <a:solidFill>
              <a:srgbClr val="C9D6DA"/>
            </a:solidFill>
            <a:prstDash val="solid"/>
          </a:ln>
        </p:spPr>
      </p:sp>
      <p:sp>
        <p:nvSpPr>
          <p:cNvPr id="100" name="Shape 22"/>
          <p:cNvSpPr/>
          <p:nvPr/>
        </p:nvSpPr>
        <p:spPr>
          <a:xfrm>
            <a:off x="10553700" y="228600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D6DA"/>
            </a:solidFill>
            <a:prstDash val="solid"/>
          </a:ln>
          <a:effectLst>
            <a:outerShdw blurRad="63500" dist="15240" dir="5400000" algn="bl" rotWithShape="0">
              <a:srgbClr val="A8B9BE">
                <a:alpha val="30000"/>
              </a:srgbClr>
            </a:outerShdw>
          </a:effectLst>
        </p:spPr>
      </p:sp>
      <p:pic>
        <p:nvPicPr>
          <p:cNvPr id="10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9440" y="2491740"/>
            <a:ext cx="548640" cy="548640"/>
          </a:xfrm>
          <a:prstGeom prst="rect">
            <a:avLst/>
          </a:prstGeom>
        </p:spPr>
      </p:pic>
      <p:sp>
        <p:nvSpPr>
          <p:cNvPr id="102" name="Text 23"/>
          <p:cNvSpPr/>
          <p:nvPr/>
        </p:nvSpPr>
        <p:spPr>
          <a:xfrm>
            <a:off x="10073640" y="3392424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2231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raised</a:t>
            </a:r>
            <a:endParaRPr lang="en-US" sz="1300" dirty="0"/>
          </a:p>
        </p:txBody>
      </p:sp>
      <p:sp>
        <p:nvSpPr>
          <p:cNvPr id="103" name="Text 24"/>
          <p:cNvSpPr/>
          <p:nvPr/>
        </p:nvSpPr>
        <p:spPr>
          <a:xfrm>
            <a:off x="10073640" y="3630168"/>
            <a:ext cx="19202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6E7D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2G  →  4G</a:t>
            </a:r>
            <a:endParaRPr lang="en-US" sz="1050" dirty="0"/>
          </a:p>
        </p:txBody>
      </p:sp>
      <p:sp>
        <p:nvSpPr>
          <p:cNvPr id="108" name="Shape 29"/>
          <p:cNvSpPr/>
          <p:nvPr/>
        </p:nvSpPr>
        <p:spPr>
          <a:xfrm>
            <a:off x="609600" y="5303520"/>
            <a:ext cx="10972800" cy="960120"/>
          </a:xfrm>
          <a:prstGeom prst="roundRect">
            <a:avLst>
              <a:gd name="adj" fmla="val 4762"/>
            </a:avLst>
          </a:prstGeom>
          <a:solidFill>
            <a:srgbClr val="F2F6F7"/>
          </a:solidFill>
          <a:ln w="9525">
            <a:solidFill>
              <a:srgbClr val="D9E4E7"/>
            </a:solidFill>
            <a:prstDash val="solid"/>
          </a:ln>
        </p:spPr>
      </p:sp>
      <p:pic>
        <p:nvPicPr>
          <p:cNvPr id="10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072" y="5596128"/>
            <a:ext cx="365760" cy="365760"/>
          </a:xfrm>
          <a:prstGeom prst="rect">
            <a:avLst/>
          </a:prstGeom>
        </p:spPr>
      </p:pic>
      <p:sp>
        <p:nvSpPr>
          <p:cNvPr id="110" name="Text 30"/>
          <p:cNvSpPr/>
          <p:nvPr/>
        </p:nvSpPr>
        <p:spPr>
          <a:xfrm>
            <a:off x="1542288" y="5303520"/>
            <a:ext cx="9646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50" b="1" dirty="0">
                <a:solidFill>
                  <a:srgbClr val="2231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loop repeats until the job succeeds.  </a:t>
            </a:r>
            <a:r>
              <a:rPr lang="en-US" sz="1250" dirty="0">
                <a:solidFill>
                  <a:srgbClr val="6E7D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new memory value lives only for this DAG run — on success it is deleted, and tomorrow starts from your normal config again.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903807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00" b="1" dirty="0">
                <a:solidFill>
                  <a:srgbClr val="2231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if it is not out of memory?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09600" y="914400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dirty="0">
                <a:solidFill>
                  <a:srgbClr val="6E7D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LLM reads the same log and picks one of three routes.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6800" y="3108960"/>
            <a:ext cx="1234440" cy="12344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blurRad="63500" dist="15240" dir="5400000" algn="bl" rotWithShape="0">
              <a:srgbClr val="A8B9BE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272" y="345643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2480" y="4480560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2231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reads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231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log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346960" y="2171700"/>
            <a:ext cx="1581912" cy="1554480"/>
          </a:xfrm>
          <a:prstGeom prst="line">
            <a:avLst/>
          </a:prstGeom>
          <a:noFill/>
          <a:ln w="22225">
            <a:solidFill>
              <a:srgbClr val="C9D6DA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992880" y="1554480"/>
            <a:ext cx="7589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036672"/>
            </a:solidFill>
            <a:prstDash val="solid"/>
          </a:ln>
          <a:effectLst>
            <a:outerShdw blurRad="63500" dist="15240" dir="5400000" algn="bl" rotWithShape="0">
              <a:srgbClr val="A8B9BE">
                <a:alpha val="3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776" y="197053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53000" y="1737360"/>
            <a:ext cx="32461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2231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 of memory</a:t>
            </a:r>
            <a:endParaRPr lang="en-US" sz="15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6E7D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OOMKilled, Java heap OOM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336280" y="1737360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00" b="1" dirty="0">
                <a:solidFill>
                  <a:srgbClr val="0366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Raise memory and retry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346960" y="3726180"/>
            <a:ext cx="1581912" cy="0"/>
          </a:xfrm>
          <a:prstGeom prst="line">
            <a:avLst/>
          </a:prstGeom>
          <a:noFill/>
          <a:ln w="22225">
            <a:solidFill>
              <a:srgbClr val="C9D6DA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992880" y="3108960"/>
            <a:ext cx="7589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A8382C"/>
            </a:solidFill>
            <a:prstDash val="solid"/>
          </a:ln>
          <a:effectLst>
            <a:outerShdw blurRad="63500" dist="15240" dir="5400000" algn="bl" rotWithShape="0">
              <a:srgbClr val="A8B9BE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776" y="352501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53000" y="3291840"/>
            <a:ext cx="32461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2231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ever work</a:t>
            </a:r>
            <a:endParaRPr lang="en-US" sz="15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6E7D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missing, bad password, wrong image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336280" y="3291840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00" b="1" dirty="0">
                <a:solidFill>
                  <a:srgbClr val="A838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Stop now — cancel the remaining retries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2346960" y="3726180"/>
            <a:ext cx="1581912" cy="1554480"/>
          </a:xfrm>
          <a:prstGeom prst="line">
            <a:avLst/>
          </a:prstGeom>
          <a:noFill/>
          <a:ln w="22225">
            <a:solidFill>
              <a:srgbClr val="C9D6DA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3992880" y="4663440"/>
            <a:ext cx="75895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5E6F76"/>
            </a:solidFill>
            <a:prstDash val="solid"/>
          </a:ln>
          <a:effectLst>
            <a:outerShdw blurRad="63500" dist="15240" dir="5400000" algn="bl" rotWithShape="0">
              <a:srgbClr val="A8B9BE">
                <a:alpha val="3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3776" y="5079492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53000" y="4846320"/>
            <a:ext cx="32461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500" b="1" dirty="0">
                <a:solidFill>
                  <a:srgbClr val="2231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Something else</a:t>
            </a:r>
            <a:endParaRPr lang="en-US" sz="1500" dirty="0"/>
          </a:p>
          <a:p>
            <a:pPr marL="0" indent="0"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6E7D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timeout, deadlock, connection reset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36280" y="4846320"/>
            <a:ext cx="2971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300" b="1" dirty="0">
                <a:solidFill>
                  <a:srgbClr val="5E6F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Retry unchanged — it may pass next time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09600" y="6108192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00" b="1" dirty="0">
                <a:solidFill>
                  <a:srgbClr val="2231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LLM proposes, the code decides.  </a:t>
            </a:r>
            <a:r>
              <a:rPr lang="en-US" sz="1200" dirty="0">
                <a:solidFill>
                  <a:srgbClr val="6E7D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can only go up, never past the ceiling — and if the LLM is unavailable nothing changes and the retries run exactly as they do today.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95144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482" y="1476102"/>
            <a:ext cx="9590882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390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707" y="1514208"/>
            <a:ext cx="9417282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36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151" y="1485629"/>
            <a:ext cx="8935697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25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197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Allahverdi Hajiyev</cp:lastModifiedBy>
  <cp:revision>2</cp:revision>
  <dcterms:created xsi:type="dcterms:W3CDTF">2026-07-23T05:02:59Z</dcterms:created>
  <dcterms:modified xsi:type="dcterms:W3CDTF">2026-08-06T06:45:57Z</dcterms:modified>
</cp:coreProperties>
</file>