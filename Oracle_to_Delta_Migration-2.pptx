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ORACLE DWH  →  DELTA LAKE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loads retired. </a:t>
            </a:r>
            <a:pPr indent="0" marL="0">
              <a:buNone/>
            </a:pPr>
            <a:r>
              <a:rPr lang="en-US" sz="145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Spark Structured Streaming (CDC) now keeps every table in sync.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012680" y="512064"/>
            <a:ext cx="1627632" cy="566928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6675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60736" y="51206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LIVE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2487168" cy="1170432"/>
          </a:xfrm>
          <a:prstGeom prst="roundRect">
            <a:avLst>
              <a:gd name="adj" fmla="val 7813"/>
            </a:avLst>
          </a:prstGeom>
          <a:solidFill>
            <a:srgbClr val="16233A"/>
          </a:solidFill>
          <a:ln w="12700">
            <a:solidFill>
              <a:srgbClr val="2434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49808" y="2002536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F766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12140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44752" y="2020824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DWH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444752" y="2386584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tables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017520" y="1783080"/>
            <a:ext cx="49377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D4BF"/>
                </a:solidFill>
              </a:rPr>
              <a:t>→</a:t>
            </a:r>
            <a:endParaRPr lang="en-US" sz="2400" dirty="0"/>
          </a:p>
        </p:txBody>
      </p:sp>
      <p:sp>
        <p:nvSpPr>
          <p:cNvPr id="13" name="Shape 9"/>
          <p:cNvSpPr/>
          <p:nvPr/>
        </p:nvSpPr>
        <p:spPr>
          <a:xfrm>
            <a:off x="3493008" y="1783080"/>
            <a:ext cx="2487168" cy="1170432"/>
          </a:xfrm>
          <a:prstGeom prst="roundRect">
            <a:avLst>
              <a:gd name="adj" fmla="val 7813"/>
            </a:avLst>
          </a:prstGeom>
          <a:solidFill>
            <a:srgbClr val="16233A"/>
          </a:solidFill>
          <a:ln w="12700">
            <a:solidFill>
              <a:srgbClr val="2434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694176" y="2002536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F766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3048" y="212140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89120" y="2020824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CDC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4389120" y="2386584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op_type  I · U · D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5961888" y="1783080"/>
            <a:ext cx="49377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D4BF"/>
                </a:solidFill>
              </a:rPr>
              <a:t>→</a:t>
            </a:r>
            <a:endParaRPr lang="en-US" sz="2400" dirty="0"/>
          </a:p>
        </p:txBody>
      </p:sp>
      <p:sp>
        <p:nvSpPr>
          <p:cNvPr id="19" name="Shape 14"/>
          <p:cNvSpPr/>
          <p:nvPr/>
        </p:nvSpPr>
        <p:spPr>
          <a:xfrm>
            <a:off x="6437376" y="1783080"/>
            <a:ext cx="2487168" cy="1170432"/>
          </a:xfrm>
          <a:prstGeom prst="roundRect">
            <a:avLst>
              <a:gd name="adj" fmla="val 7813"/>
            </a:avLst>
          </a:prstGeom>
          <a:solidFill>
            <a:srgbClr val="16233A"/>
          </a:solidFill>
          <a:ln w="12700">
            <a:solidFill>
              <a:srgbClr val="2434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38544" y="2002536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F766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416" y="212140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33488" y="2020824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Stream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333488" y="2386584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foreachBatch MERGE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8906256" y="1783080"/>
            <a:ext cx="49377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D4BF"/>
                </a:solidFill>
              </a:rPr>
              <a:t>→</a:t>
            </a:r>
            <a:endParaRPr lang="en-US" sz="2400" dirty="0"/>
          </a:p>
        </p:txBody>
      </p:sp>
      <p:sp>
        <p:nvSpPr>
          <p:cNvPr id="25" name="Shape 19"/>
          <p:cNvSpPr/>
          <p:nvPr/>
        </p:nvSpPr>
        <p:spPr>
          <a:xfrm>
            <a:off x="9381744" y="1783080"/>
            <a:ext cx="2487168" cy="1170432"/>
          </a:xfrm>
          <a:prstGeom prst="roundRect">
            <a:avLst>
              <a:gd name="adj" fmla="val 7813"/>
            </a:avLst>
          </a:prstGeom>
          <a:solidFill>
            <a:srgbClr val="1D2E4A"/>
          </a:solidFill>
          <a:ln w="19050">
            <a:solidFill>
              <a:srgbClr val="2DD4B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9582912" y="2002536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F766E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1784" y="2121408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277856" y="2020824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</a:t>
            </a:r>
            <a:endParaRPr lang="en-US" sz="1550" dirty="0"/>
          </a:p>
        </p:txBody>
      </p:sp>
      <p:sp>
        <p:nvSpPr>
          <p:cNvPr id="29" name="Text 22"/>
          <p:cNvSpPr/>
          <p:nvPr/>
        </p:nvSpPr>
        <p:spPr>
          <a:xfrm>
            <a:off x="10277856" y="2386584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Upserted, de-duplicated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548640" y="3310128"/>
            <a:ext cx="2487168" cy="1024128"/>
          </a:xfrm>
          <a:prstGeom prst="roundRect">
            <a:avLst>
              <a:gd name="adj" fmla="val 8929"/>
            </a:avLst>
          </a:prstGeom>
          <a:solidFill>
            <a:srgbClr val="16233A"/>
          </a:solidFill>
          <a:ln/>
        </p:spPr>
      </p:sp>
      <p:sp>
        <p:nvSpPr>
          <p:cNvPr id="31" name="Shape 24"/>
          <p:cNvSpPr/>
          <p:nvPr/>
        </p:nvSpPr>
        <p:spPr>
          <a:xfrm>
            <a:off x="1728216" y="3456432"/>
            <a:ext cx="128016" cy="12801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2" name="Text 25"/>
          <p:cNvSpPr/>
          <p:nvPr/>
        </p:nvSpPr>
        <p:spPr>
          <a:xfrm>
            <a:off x="548640" y="3529584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800" dirty="0"/>
          </a:p>
        </p:txBody>
      </p:sp>
      <p:sp>
        <p:nvSpPr>
          <p:cNvPr id="33" name="Text 26"/>
          <p:cNvSpPr/>
          <p:nvPr/>
        </p:nvSpPr>
        <p:spPr>
          <a:xfrm>
            <a:off x="548640" y="4041648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migrated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3493008" y="3310128"/>
            <a:ext cx="2487168" cy="1024128"/>
          </a:xfrm>
          <a:prstGeom prst="roundRect">
            <a:avLst>
              <a:gd name="adj" fmla="val 8929"/>
            </a:avLst>
          </a:prstGeom>
          <a:solidFill>
            <a:srgbClr val="16233A"/>
          </a:solidFill>
          <a:ln/>
        </p:spPr>
      </p:sp>
      <p:sp>
        <p:nvSpPr>
          <p:cNvPr id="35" name="Shape 28"/>
          <p:cNvSpPr/>
          <p:nvPr/>
        </p:nvSpPr>
        <p:spPr>
          <a:xfrm>
            <a:off x="4672584" y="3456432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6" name="Text 29"/>
          <p:cNvSpPr/>
          <p:nvPr/>
        </p:nvSpPr>
        <p:spPr>
          <a:xfrm>
            <a:off x="3493008" y="3529584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800" dirty="0"/>
          </a:p>
        </p:txBody>
      </p:sp>
      <p:sp>
        <p:nvSpPr>
          <p:cNvPr id="37" name="Text 30"/>
          <p:cNvSpPr/>
          <p:nvPr/>
        </p:nvSpPr>
        <p:spPr>
          <a:xfrm>
            <a:off x="3493008" y="4041648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succeeded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6437376" y="3310128"/>
            <a:ext cx="2487168" cy="1024128"/>
          </a:xfrm>
          <a:prstGeom prst="roundRect">
            <a:avLst>
              <a:gd name="adj" fmla="val 8929"/>
            </a:avLst>
          </a:prstGeom>
          <a:solidFill>
            <a:srgbClr val="16233A"/>
          </a:solidFill>
          <a:ln/>
        </p:spPr>
      </p:sp>
      <p:sp>
        <p:nvSpPr>
          <p:cNvPr id="39" name="Shape 32"/>
          <p:cNvSpPr/>
          <p:nvPr/>
        </p:nvSpPr>
        <p:spPr>
          <a:xfrm>
            <a:off x="7616952" y="3456432"/>
            <a:ext cx="128016" cy="12801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0" name="Text 33"/>
          <p:cNvSpPr/>
          <p:nvPr/>
        </p:nvSpPr>
        <p:spPr>
          <a:xfrm>
            <a:off x="6437376" y="3529584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CDC</a:t>
            </a:r>
            <a:endParaRPr lang="en-US" sz="3800" dirty="0"/>
          </a:p>
        </p:txBody>
      </p:sp>
      <p:sp>
        <p:nvSpPr>
          <p:cNvPr id="41" name="Text 34"/>
          <p:cNvSpPr/>
          <p:nvPr/>
        </p:nvSpPr>
        <p:spPr>
          <a:xfrm>
            <a:off x="6437376" y="4041648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· Update · Delete</a:t>
            </a:r>
            <a:endParaRPr lang="en-US" sz="1050" dirty="0"/>
          </a:p>
        </p:txBody>
      </p:sp>
      <p:sp>
        <p:nvSpPr>
          <p:cNvPr id="42" name="Shape 35"/>
          <p:cNvSpPr/>
          <p:nvPr/>
        </p:nvSpPr>
        <p:spPr>
          <a:xfrm>
            <a:off x="9381744" y="3310128"/>
            <a:ext cx="2487168" cy="1024128"/>
          </a:xfrm>
          <a:prstGeom prst="roundRect">
            <a:avLst>
              <a:gd name="adj" fmla="val 8929"/>
            </a:avLst>
          </a:prstGeom>
          <a:solidFill>
            <a:srgbClr val="16233A"/>
          </a:solidFill>
          <a:ln/>
        </p:spPr>
      </p:sp>
      <p:sp>
        <p:nvSpPr>
          <p:cNvPr id="43" name="Shape 36"/>
          <p:cNvSpPr/>
          <p:nvPr/>
        </p:nvSpPr>
        <p:spPr>
          <a:xfrm>
            <a:off x="10561320" y="3456432"/>
            <a:ext cx="128016" cy="12801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44" name="Text 37"/>
          <p:cNvSpPr/>
          <p:nvPr/>
        </p:nvSpPr>
        <p:spPr>
          <a:xfrm>
            <a:off x="9381744" y="3529584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24×7</a:t>
            </a:r>
            <a:endParaRPr lang="en-US" sz="3800" dirty="0"/>
          </a:p>
        </p:txBody>
      </p:sp>
      <p:sp>
        <p:nvSpPr>
          <p:cNvPr id="45" name="Text 38"/>
          <p:cNvSpPr/>
          <p:nvPr/>
        </p:nvSpPr>
        <p:spPr>
          <a:xfrm>
            <a:off x="9381744" y="4041648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sync</a:t>
            </a:r>
            <a:endParaRPr lang="en-US" sz="1050" dirty="0"/>
          </a:p>
        </p:txBody>
      </p:sp>
      <p:sp>
        <p:nvSpPr>
          <p:cNvPr id="46" name="Shape 39"/>
          <p:cNvSpPr/>
          <p:nvPr/>
        </p:nvSpPr>
        <p:spPr>
          <a:xfrm>
            <a:off x="566928" y="4809744"/>
            <a:ext cx="128016" cy="12801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47" name="Text 40"/>
          <p:cNvSpPr/>
          <p:nvPr/>
        </p:nvSpPr>
        <p:spPr>
          <a:xfrm>
            <a:off x="786384" y="4736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MIGRATED STREAMING JOBS</a:t>
            </a:r>
            <a:endParaRPr lang="en-US" sz="1300" dirty="0"/>
          </a:p>
        </p:txBody>
      </p:sp>
      <p:sp>
        <p:nvSpPr>
          <p:cNvPr id="48" name="Shape 41"/>
          <p:cNvSpPr/>
          <p:nvPr/>
        </p:nvSpPr>
        <p:spPr>
          <a:xfrm>
            <a:off x="548640" y="5120640"/>
            <a:ext cx="3685032" cy="420624"/>
          </a:xfrm>
          <a:prstGeom prst="roundRect">
            <a:avLst>
              <a:gd name="adj" fmla="val 13043"/>
            </a:avLst>
          </a:prstGeom>
          <a:solidFill>
            <a:srgbClr val="16233A"/>
          </a:solidFill>
          <a:ln w="12700">
            <a:solidFill>
              <a:srgbClr val="24344F"/>
            </a:solidFill>
            <a:prstDash val="solid"/>
          </a:ln>
        </p:spPr>
      </p:sp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" y="5239512"/>
            <a:ext cx="182880" cy="182880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969264" y="5120640"/>
            <a:ext cx="3136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cstb_contract_event_log</a:t>
            </a:r>
            <a:endParaRPr lang="en-US" sz="1100" dirty="0"/>
          </a:p>
        </p:txBody>
      </p:sp>
      <p:sp>
        <p:nvSpPr>
          <p:cNvPr id="51" name="Shape 43"/>
          <p:cNvSpPr/>
          <p:nvPr/>
        </p:nvSpPr>
        <p:spPr>
          <a:xfrm>
            <a:off x="4361688" y="5120640"/>
            <a:ext cx="3685032" cy="420624"/>
          </a:xfrm>
          <a:prstGeom prst="roundRect">
            <a:avLst>
              <a:gd name="adj" fmla="val 13043"/>
            </a:avLst>
          </a:prstGeom>
          <a:solidFill>
            <a:srgbClr val="16233A"/>
          </a:solidFill>
          <a:ln w="12700">
            <a:solidFill>
              <a:srgbClr val="24344F"/>
            </a:solidFill>
            <a:prstDash val="solid"/>
          </a:ln>
        </p:spPr>
      </p:sp>
      <p:pic>
        <p:nvPicPr>
          <p:cNvPr id="5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7992" y="5239512"/>
            <a:ext cx="182880" cy="182880"/>
          </a:xfrm>
          <a:prstGeom prst="rect">
            <a:avLst/>
          </a:prstGeom>
        </p:spPr>
      </p:pic>
      <p:sp>
        <p:nvSpPr>
          <p:cNvPr id="53" name="Text 44"/>
          <p:cNvSpPr/>
          <p:nvPr/>
        </p:nvSpPr>
        <p:spPr>
          <a:xfrm>
            <a:off x="4782312" y="5120640"/>
            <a:ext cx="3136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sttb_record_log</a:t>
            </a:r>
            <a:endParaRPr lang="en-US" sz="1100" dirty="0"/>
          </a:p>
        </p:txBody>
      </p:sp>
      <p:sp>
        <p:nvSpPr>
          <p:cNvPr id="54" name="Shape 45"/>
          <p:cNvSpPr/>
          <p:nvPr/>
        </p:nvSpPr>
        <p:spPr>
          <a:xfrm>
            <a:off x="8174736" y="5120640"/>
            <a:ext cx="3685032" cy="420624"/>
          </a:xfrm>
          <a:prstGeom prst="roundRect">
            <a:avLst>
              <a:gd name="adj" fmla="val 13043"/>
            </a:avLst>
          </a:prstGeom>
          <a:solidFill>
            <a:srgbClr val="16233A"/>
          </a:solidFill>
          <a:ln w="12700">
            <a:solidFill>
              <a:srgbClr val="24344F"/>
            </a:solidFill>
            <a:prstDash val="solid"/>
          </a:ln>
        </p:spPr>
      </p:sp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1040" y="5239512"/>
            <a:ext cx="182880" cy="182880"/>
          </a:xfrm>
          <a:prstGeom prst="rect">
            <a:avLst/>
          </a:prstGeom>
        </p:spPr>
      </p:pic>
      <p:sp>
        <p:nvSpPr>
          <p:cNvPr id="56" name="Text 46"/>
          <p:cNvSpPr/>
          <p:nvPr/>
        </p:nvSpPr>
        <p:spPr>
          <a:xfrm>
            <a:off x="8595360" y="5120640"/>
            <a:ext cx="3136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citb_account_ude_values</a:t>
            </a:r>
            <a:endParaRPr lang="en-US" sz="1100" dirty="0"/>
          </a:p>
        </p:txBody>
      </p:sp>
      <p:sp>
        <p:nvSpPr>
          <p:cNvPr id="57" name="Shape 47"/>
          <p:cNvSpPr/>
          <p:nvPr/>
        </p:nvSpPr>
        <p:spPr>
          <a:xfrm>
            <a:off x="548640" y="5660136"/>
            <a:ext cx="3685032" cy="420624"/>
          </a:xfrm>
          <a:prstGeom prst="roundRect">
            <a:avLst>
              <a:gd name="adj" fmla="val 13043"/>
            </a:avLst>
          </a:prstGeom>
          <a:solidFill>
            <a:srgbClr val="16233A"/>
          </a:solidFill>
          <a:ln w="12700">
            <a:solidFill>
              <a:srgbClr val="24344F"/>
            </a:solidFill>
            <a:prstDash val="solid"/>
          </a:ln>
        </p:spPr>
      </p:sp>
      <p:pic>
        <p:nvPicPr>
          <p:cNvPr id="5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944" y="5779008"/>
            <a:ext cx="182880" cy="182880"/>
          </a:xfrm>
          <a:prstGeom prst="rect">
            <a:avLst/>
          </a:prstGeom>
        </p:spPr>
      </p:pic>
      <p:sp>
        <p:nvSpPr>
          <p:cNvPr id="59" name="Text 48"/>
          <p:cNvSpPr/>
          <p:nvPr/>
        </p:nvSpPr>
        <p:spPr>
          <a:xfrm>
            <a:off x="969264" y="5660136"/>
            <a:ext cx="3136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cstm_function_userdef_fields</a:t>
            </a:r>
            <a:endParaRPr lang="en-US" sz="1100" dirty="0"/>
          </a:p>
        </p:txBody>
      </p:sp>
      <p:sp>
        <p:nvSpPr>
          <p:cNvPr id="60" name="Shape 49"/>
          <p:cNvSpPr/>
          <p:nvPr/>
        </p:nvSpPr>
        <p:spPr>
          <a:xfrm>
            <a:off x="4361688" y="5660136"/>
            <a:ext cx="3685032" cy="420624"/>
          </a:xfrm>
          <a:prstGeom prst="roundRect">
            <a:avLst>
              <a:gd name="adj" fmla="val 13043"/>
            </a:avLst>
          </a:prstGeom>
          <a:solidFill>
            <a:srgbClr val="16233A"/>
          </a:solidFill>
          <a:ln w="12700">
            <a:solidFill>
              <a:srgbClr val="24344F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07992" y="5779008"/>
            <a:ext cx="182880" cy="182880"/>
          </a:xfrm>
          <a:prstGeom prst="rect">
            <a:avLst/>
          </a:prstGeom>
        </p:spPr>
      </p:pic>
      <p:sp>
        <p:nvSpPr>
          <p:cNvPr id="62" name="Text 50"/>
          <p:cNvSpPr/>
          <p:nvPr/>
        </p:nvSpPr>
        <p:spPr>
          <a:xfrm>
            <a:off x="4782312" y="5660136"/>
            <a:ext cx="3136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citb_amount_paid</a:t>
            </a:r>
            <a:endParaRPr lang="en-US" sz="1100" dirty="0"/>
          </a:p>
        </p:txBody>
      </p:sp>
      <p:sp>
        <p:nvSpPr>
          <p:cNvPr id="63" name="Shape 51"/>
          <p:cNvSpPr/>
          <p:nvPr/>
        </p:nvSpPr>
        <p:spPr>
          <a:xfrm>
            <a:off x="8174736" y="5660136"/>
            <a:ext cx="3685032" cy="420624"/>
          </a:xfrm>
          <a:prstGeom prst="roundRect">
            <a:avLst>
              <a:gd name="adj" fmla="val 13043"/>
            </a:avLst>
          </a:prstGeom>
          <a:solidFill>
            <a:srgbClr val="16233A"/>
          </a:solidFill>
          <a:ln w="12700">
            <a:solidFill>
              <a:srgbClr val="24344F"/>
            </a:solidFill>
            <a:prstDash val="solid"/>
          </a:ln>
        </p:spPr>
      </p:sp>
      <p:pic>
        <p:nvPicPr>
          <p:cNvPr id="6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21040" y="5779008"/>
            <a:ext cx="182880" cy="182880"/>
          </a:xfrm>
          <a:prstGeom prst="rect">
            <a:avLst/>
          </a:prstGeom>
        </p:spPr>
      </p:pic>
      <p:sp>
        <p:nvSpPr>
          <p:cNvPr id="65" name="Text 52"/>
          <p:cNvSpPr/>
          <p:nvPr/>
        </p:nvSpPr>
        <p:spPr>
          <a:xfrm>
            <a:off x="8595360" y="5660136"/>
            <a:ext cx="3136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citb_account_parties</a:t>
            </a:r>
            <a:endParaRPr lang="en-US" sz="1100" dirty="0"/>
          </a:p>
        </p:txBody>
      </p:sp>
      <p:sp>
        <p:nvSpPr>
          <p:cNvPr id="66" name="Shape 53"/>
          <p:cNvSpPr/>
          <p:nvPr/>
        </p:nvSpPr>
        <p:spPr>
          <a:xfrm>
            <a:off x="548640" y="6199632"/>
            <a:ext cx="3685032" cy="420624"/>
          </a:xfrm>
          <a:prstGeom prst="roundRect">
            <a:avLst>
              <a:gd name="adj" fmla="val 13043"/>
            </a:avLst>
          </a:prstGeom>
          <a:solidFill>
            <a:srgbClr val="16233A"/>
          </a:solidFill>
          <a:ln w="12700">
            <a:solidFill>
              <a:srgbClr val="24344F"/>
            </a:solidFill>
            <a:prstDash val="solid"/>
          </a:ln>
        </p:spPr>
      </p:sp>
      <p:pic>
        <p:nvPicPr>
          <p:cNvPr id="6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4944" y="6318504"/>
            <a:ext cx="182880" cy="182880"/>
          </a:xfrm>
          <a:prstGeom prst="rect">
            <a:avLst/>
          </a:prstGeom>
        </p:spPr>
      </p:pic>
      <p:sp>
        <p:nvSpPr>
          <p:cNvPr id="68" name="Text 54"/>
          <p:cNvSpPr/>
          <p:nvPr/>
        </p:nvSpPr>
        <p:spPr>
          <a:xfrm>
            <a:off x="969264" y="6199632"/>
            <a:ext cx="3136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cftb_contract_charges</a:t>
            </a:r>
            <a:endParaRPr lang="en-US" sz="1100" dirty="0"/>
          </a:p>
        </p:txBody>
      </p:sp>
      <p:sp>
        <p:nvSpPr>
          <p:cNvPr id="69" name="Shape 55"/>
          <p:cNvSpPr/>
          <p:nvPr/>
        </p:nvSpPr>
        <p:spPr>
          <a:xfrm>
            <a:off x="4361688" y="6199632"/>
            <a:ext cx="3685032" cy="420624"/>
          </a:xfrm>
          <a:prstGeom prst="roundRect">
            <a:avLst>
              <a:gd name="adj" fmla="val 13043"/>
            </a:avLst>
          </a:prstGeom>
          <a:solidFill>
            <a:srgbClr val="16233A"/>
          </a:solidFill>
          <a:ln w="12700">
            <a:solidFill>
              <a:srgbClr val="24344F"/>
            </a:solidFill>
            <a:prstDash val="solid"/>
          </a:ln>
        </p:spPr>
      </p:sp>
      <p:pic>
        <p:nvPicPr>
          <p:cNvPr id="7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07992" y="6318504"/>
            <a:ext cx="182880" cy="182880"/>
          </a:xfrm>
          <a:prstGeom prst="rect">
            <a:avLst/>
          </a:prstGeom>
        </p:spPr>
      </p:pic>
      <p:sp>
        <p:nvSpPr>
          <p:cNvPr id="71" name="Text 56"/>
          <p:cNvSpPr/>
          <p:nvPr/>
        </p:nvSpPr>
        <p:spPr>
          <a:xfrm>
            <a:off x="4782312" y="6199632"/>
            <a:ext cx="3136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glmismapping2</a:t>
            </a:r>
            <a:endParaRPr lang="en-US" sz="1100" dirty="0"/>
          </a:p>
        </p:txBody>
      </p:sp>
      <p:sp>
        <p:nvSpPr>
          <p:cNvPr id="72" name="Shape 57"/>
          <p:cNvSpPr/>
          <p:nvPr/>
        </p:nvSpPr>
        <p:spPr>
          <a:xfrm>
            <a:off x="8174736" y="6199632"/>
            <a:ext cx="3685032" cy="420624"/>
          </a:xfrm>
          <a:prstGeom prst="roundRect">
            <a:avLst>
              <a:gd name="adj" fmla="val 13043"/>
            </a:avLst>
          </a:prstGeom>
          <a:solidFill>
            <a:srgbClr val="16233A"/>
          </a:solidFill>
          <a:ln w="12700">
            <a:solidFill>
              <a:srgbClr val="24344F"/>
            </a:solidFill>
            <a:prstDash val="solid"/>
          </a:ln>
        </p:spPr>
      </p:sp>
      <p:pic>
        <p:nvPicPr>
          <p:cNvPr id="7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21040" y="6318504"/>
            <a:ext cx="182880" cy="182880"/>
          </a:xfrm>
          <a:prstGeom prst="rect">
            <a:avLst/>
          </a:prstGeom>
        </p:spPr>
      </p:pic>
      <p:sp>
        <p:nvSpPr>
          <p:cNvPr id="74" name="Text 58"/>
          <p:cNvSpPr/>
          <p:nvPr/>
        </p:nvSpPr>
        <p:spPr>
          <a:xfrm>
            <a:off x="8595360" y="6199632"/>
            <a:ext cx="3136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getm_liab_cust</a:t>
            </a:r>
            <a:endParaRPr lang="en-US" sz="1100" dirty="0"/>
          </a:p>
        </p:txBody>
      </p:sp>
      <p:sp>
        <p:nvSpPr>
          <p:cNvPr id="75" name="Shape 59"/>
          <p:cNvSpPr/>
          <p:nvPr/>
        </p:nvSpPr>
        <p:spPr>
          <a:xfrm>
            <a:off x="548640" y="6739128"/>
            <a:ext cx="3685032" cy="420624"/>
          </a:xfrm>
          <a:prstGeom prst="roundRect">
            <a:avLst>
              <a:gd name="adj" fmla="val 13043"/>
            </a:avLst>
          </a:prstGeom>
          <a:solidFill>
            <a:srgbClr val="16233A"/>
          </a:solidFill>
          <a:ln w="12700">
            <a:solidFill>
              <a:srgbClr val="24344F"/>
            </a:solidFill>
            <a:prstDash val="solid"/>
          </a:ln>
        </p:spPr>
      </p:sp>
      <p:pic>
        <p:nvPicPr>
          <p:cNvPr id="7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4944" y="6858000"/>
            <a:ext cx="182880" cy="182880"/>
          </a:xfrm>
          <a:prstGeom prst="rect">
            <a:avLst/>
          </a:prstGeom>
        </p:spPr>
      </p:pic>
      <p:sp>
        <p:nvSpPr>
          <p:cNvPr id="77" name="Text 60"/>
          <p:cNvSpPr/>
          <p:nvPr/>
        </p:nvSpPr>
        <p:spPr>
          <a:xfrm>
            <a:off x="969264" y="6739128"/>
            <a:ext cx="3136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gltm_mis_code</a:t>
            </a:r>
            <a:endParaRPr lang="en-US" sz="1100" dirty="0"/>
          </a:p>
        </p:txBody>
      </p:sp>
      <p:sp>
        <p:nvSpPr>
          <p:cNvPr id="78" name="Shape 61"/>
          <p:cNvSpPr/>
          <p:nvPr/>
        </p:nvSpPr>
        <p:spPr>
          <a:xfrm>
            <a:off x="4361688" y="6739128"/>
            <a:ext cx="3685032" cy="420624"/>
          </a:xfrm>
          <a:prstGeom prst="roundRect">
            <a:avLst>
              <a:gd name="adj" fmla="val 13043"/>
            </a:avLst>
          </a:prstGeom>
          <a:solidFill>
            <a:srgbClr val="16233A"/>
          </a:solidFill>
          <a:ln w="12700">
            <a:solidFill>
              <a:srgbClr val="24344F"/>
            </a:solidFill>
            <a:prstDash val="solid"/>
          </a:ln>
        </p:spPr>
      </p:sp>
      <p:pic>
        <p:nvPicPr>
          <p:cNvPr id="7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07992" y="6858000"/>
            <a:ext cx="182880" cy="182880"/>
          </a:xfrm>
          <a:prstGeom prst="rect">
            <a:avLst/>
          </a:prstGeom>
        </p:spPr>
      </p:pic>
      <p:sp>
        <p:nvSpPr>
          <p:cNvPr id="80" name="Text 62"/>
          <p:cNvSpPr/>
          <p:nvPr/>
        </p:nvSpPr>
        <p:spPr>
          <a:xfrm>
            <a:off x="4782312" y="6739128"/>
            <a:ext cx="3136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cstb_contract</a:t>
            </a:r>
            <a:endParaRPr lang="en-US" sz="1100" dirty="0"/>
          </a:p>
        </p:txBody>
      </p:sp>
      <p:sp>
        <p:nvSpPr>
          <p:cNvPr id="81" name="Shape 63"/>
          <p:cNvSpPr/>
          <p:nvPr/>
        </p:nvSpPr>
        <p:spPr>
          <a:xfrm>
            <a:off x="8174736" y="6739128"/>
            <a:ext cx="3685032" cy="420624"/>
          </a:xfrm>
          <a:prstGeom prst="roundRect">
            <a:avLst>
              <a:gd name="adj" fmla="val 13043"/>
            </a:avLst>
          </a:prstGeom>
          <a:solidFill>
            <a:srgbClr val="16233A"/>
          </a:solidFill>
          <a:ln w="12700">
            <a:solidFill>
              <a:srgbClr val="24344F"/>
            </a:solidFill>
            <a:prstDash val="solid"/>
          </a:ln>
        </p:spPr>
      </p:sp>
      <p:pic>
        <p:nvPicPr>
          <p:cNvPr id="8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21040" y="6858000"/>
            <a:ext cx="182880" cy="182880"/>
          </a:xfrm>
          <a:prstGeom prst="rect">
            <a:avLst/>
          </a:prstGeom>
        </p:spPr>
      </p:pic>
      <p:sp>
        <p:nvSpPr>
          <p:cNvPr id="83" name="Text 64"/>
          <p:cNvSpPr/>
          <p:nvPr/>
        </p:nvSpPr>
        <p:spPr>
          <a:xfrm>
            <a:off x="8595360" y="6739128"/>
            <a:ext cx="3136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cstm_contract_userdef_fields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Oracle DWH → Delta Streaming Migration</dc:title>
  <dc:subject>PptxGenJS Presentation</dc:subject>
  <dc:creator>Data Engineering</dc:creator>
  <cp:lastModifiedBy>Data Engineering</cp:lastModifiedBy>
  <cp:revision>1</cp:revision>
  <dcterms:created xsi:type="dcterms:W3CDTF">2026-07-02T07:25:01Z</dcterms:created>
  <dcterms:modified xsi:type="dcterms:W3CDTF">2026-07-02T07:25:01Z</dcterms:modified>
</cp:coreProperties>
</file>