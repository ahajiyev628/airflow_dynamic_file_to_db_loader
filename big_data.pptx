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sse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3" name="Picture 2" descr="asset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8700" y="300000"/>
            <a:ext cx="90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 dirty="0" err="1" smtClean="0">
                <a:solidFill>
                  <a:srgbClr val="0070C0"/>
                </a:solidFill>
                <a:latin typeface="Arial"/>
              </a:rPr>
              <a:t>Niyə</a:t>
            </a:r>
            <a:r>
              <a:rPr lang="en-US" sz="2600" b="1" i="0" dirty="0" smtClean="0">
                <a:solidFill>
                  <a:srgbClr val="0070C0"/>
                </a:solidFill>
                <a:latin typeface="Arial"/>
              </a:rPr>
              <a:t> Big</a:t>
            </a:r>
            <a:r>
              <a:rPr sz="2600" b="1" i="0" dirty="0" smtClean="0">
                <a:solidFill>
                  <a:srgbClr val="0070C0"/>
                </a:solidFill>
                <a:latin typeface="Arial"/>
              </a:rPr>
              <a:t> </a:t>
            </a:r>
            <a:r>
              <a:rPr sz="2600" b="1" i="0" dirty="0">
                <a:solidFill>
                  <a:srgbClr val="0070C0"/>
                </a:solidFill>
                <a:latin typeface="Arial"/>
              </a:rPr>
              <a:t>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700" y="920000"/>
            <a:ext cx="10400000" cy="463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 dirty="0" err="1">
                <a:solidFill>
                  <a:srgbClr val="1F2A44"/>
                </a:solidFill>
                <a:latin typeface="Arial"/>
              </a:rPr>
              <a:t>Ənənəvi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data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mühəndisliyi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strukturlaşmış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,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nisbətən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kiçik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həcmli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məlumatlarla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yaxşı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işləyir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.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Lakin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bankın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gündəlik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yaratdığı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məlumatın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həcmi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,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sürəti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və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müxtəlifliyi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artıq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ənənəvi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yanaşmanın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imkanlarını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aşır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—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məhz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burada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400" i="0" dirty="0" smtClean="0">
                <a:solidFill>
                  <a:srgbClr val="1F2A44"/>
                </a:solidFill>
                <a:latin typeface="Arial"/>
              </a:rPr>
              <a:t>Big</a:t>
            </a:r>
            <a:r>
              <a:rPr sz="1400" i="0" dirty="0" smtClean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Data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lazım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 </a:t>
            </a:r>
            <a:r>
              <a:rPr sz="1400" i="0" dirty="0" err="1">
                <a:solidFill>
                  <a:srgbClr val="1F2A44"/>
                </a:solidFill>
                <a:latin typeface="Arial"/>
              </a:rPr>
              <a:t>olur</a:t>
            </a:r>
            <a:r>
              <a:rPr sz="1400" i="0" dirty="0">
                <a:solidFill>
                  <a:srgbClr val="1F2A44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8700" y="1820000"/>
            <a:ext cx="5159281" cy="3050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8700" y="2040000"/>
            <a:ext cx="4639281" cy="131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 dirty="0" err="1">
                <a:solidFill>
                  <a:srgbClr val="555E6E"/>
                </a:solidFill>
                <a:latin typeface="Arial"/>
              </a:rPr>
              <a:t>Ənənəvi</a:t>
            </a:r>
            <a:r>
              <a:rPr sz="1500" b="1" i="0" dirty="0">
                <a:solidFill>
                  <a:srgbClr val="555E6E"/>
                </a:solidFill>
                <a:latin typeface="Arial"/>
              </a:rPr>
              <a:t> data </a:t>
            </a:r>
            <a:r>
              <a:rPr sz="1500" b="1" i="0" dirty="0" err="1">
                <a:solidFill>
                  <a:srgbClr val="555E6E"/>
                </a:solidFill>
                <a:latin typeface="Arial"/>
              </a:rPr>
              <a:t>mühəndisliyi</a:t>
            </a:r>
            <a:endParaRPr sz="1500" b="1" i="0" dirty="0">
              <a:solidFill>
                <a:srgbClr val="555E6E"/>
              </a:solidFill>
              <a:latin typeface="Arial"/>
            </a:endParaRPr>
          </a:p>
          <a:p>
            <a:pPr marL="285750" indent="-285750">
              <a:lnSpc>
                <a:spcPct val="106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1F2A44"/>
                </a:solidFill>
                <a:latin typeface="Arial"/>
              </a:rPr>
              <a:t>Əsasən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strukturlaşdırılmış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məlumatlarla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(relational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verilənlər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bazaları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,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cədvəllər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)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işləyir</a:t>
            </a:r>
            <a:r>
              <a:rPr lang="en-US" sz="1300" dirty="0" smtClean="0">
                <a:solidFill>
                  <a:srgbClr val="1F2A44"/>
                </a:solidFill>
                <a:latin typeface="Arial"/>
              </a:rPr>
              <a:t>.</a:t>
            </a:r>
            <a:endParaRPr lang="az-Latn-AZ" sz="1300" dirty="0" smtClean="0">
              <a:solidFill>
                <a:srgbClr val="1F2A44"/>
              </a:solidFill>
              <a:latin typeface="Arial"/>
            </a:endParaRPr>
          </a:p>
          <a:p>
            <a:pPr marL="285750" indent="-285750">
              <a:lnSpc>
                <a:spcPct val="106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300" dirty="0" err="1" smtClean="0">
                <a:solidFill>
                  <a:srgbClr val="1F2A44"/>
                </a:solidFill>
                <a:latin typeface="Arial"/>
              </a:rPr>
              <a:t>Verilənlərin</a:t>
            </a:r>
            <a:r>
              <a:rPr lang="en-US" sz="1300" dirty="0" smtClean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həcmi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artdıqca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performans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azalır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və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emal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müddəti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 </a:t>
            </a:r>
            <a:r>
              <a:rPr lang="en-US" sz="1300" dirty="0" err="1">
                <a:solidFill>
                  <a:srgbClr val="1F2A44"/>
                </a:solidFill>
                <a:latin typeface="Arial"/>
              </a:rPr>
              <a:t>uzanır</a:t>
            </a:r>
            <a:r>
              <a:rPr lang="en-US" sz="1300" dirty="0">
                <a:solidFill>
                  <a:srgbClr val="1F2A44"/>
                </a:solidFill>
                <a:latin typeface="Arial"/>
              </a:rPr>
              <a:t>.</a:t>
            </a:r>
            <a:endParaRPr sz="1300" dirty="0">
              <a:solidFill>
                <a:srgbClr val="1F2A44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77981" y="1820000"/>
            <a:ext cx="5159281" cy="3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3470" y="2040000"/>
            <a:ext cx="4639281" cy="242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lang="az-Latn-AZ" sz="1500" b="1" i="0" dirty="0" smtClean="0">
                <a:solidFill>
                  <a:srgbClr val="0070C0"/>
                </a:solidFill>
                <a:latin typeface="Arial"/>
              </a:rPr>
              <a:t>Big</a:t>
            </a:r>
            <a:r>
              <a:rPr sz="1500" b="1" i="0" dirty="0" smtClean="0">
                <a:solidFill>
                  <a:srgbClr val="0070C0"/>
                </a:solidFill>
                <a:latin typeface="Arial"/>
              </a:rPr>
              <a:t> </a:t>
            </a:r>
            <a:r>
              <a:rPr sz="1500" b="1" i="0" dirty="0">
                <a:solidFill>
                  <a:srgbClr val="0070C0"/>
                </a:solidFill>
                <a:latin typeface="Arial"/>
              </a:rPr>
              <a:t>Data </a:t>
            </a:r>
            <a:r>
              <a:rPr sz="1500" b="1" i="0" dirty="0" err="1">
                <a:solidFill>
                  <a:srgbClr val="0070C0"/>
                </a:solidFill>
                <a:latin typeface="Arial"/>
              </a:rPr>
              <a:t>yanaşması</a:t>
            </a:r>
            <a:endParaRPr sz="1500" b="1" i="0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 i="0" dirty="0" smtClean="0">
                <a:solidFill>
                  <a:srgbClr val="0070C0"/>
                </a:solidFill>
                <a:latin typeface="Arial"/>
              </a:rPr>
              <a:t>• 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Strukturlaşdırılmış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yarımstrukturlaşdırılmış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və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qeyri-strukturlaşdırılmış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məlumatları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loglar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JSON, XML,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mətn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şəkillər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məlumatları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və s.) eyni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platformada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emal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edə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bilir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z-Latn-AZ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i="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Hesablama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işi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çoxsaylı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serverlər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arasında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paralel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bölüşdürülərək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yüksək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performans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təmin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edilir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z-Latn-AZ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lang="en-US" sz="12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Terabayt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və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petabayt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həcmində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məlumatlar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üzərində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belə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sürətli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emal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mümkündür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z-Latn-AZ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lang="en-US" sz="12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az-Latn-AZ" sz="12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Real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vaxt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(streaming) və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toplu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(batch)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məlumat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emalını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dəstəkləyir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i="0" dirty="0">
              <a:solidFill>
                <a:srgbClr val="1F2A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8700" y="5170000"/>
            <a:ext cx="3372854" cy="7600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8700" y="5320000"/>
            <a:ext cx="2932854" cy="601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dirty="0" err="1">
                <a:solidFill>
                  <a:srgbClr val="0070C0"/>
                </a:solidFill>
                <a:latin typeface="Arial"/>
              </a:rPr>
              <a:t>Həcm</a:t>
            </a:r>
            <a:r>
              <a:rPr sz="1350" b="1" i="0" dirty="0">
                <a:solidFill>
                  <a:srgbClr val="0070C0"/>
                </a:solidFill>
                <a:latin typeface="Arial"/>
              </a:rPr>
              <a:t> (Volume)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az-Latn-AZ" sz="1100" b="0" i="0" dirty="0" smtClean="0">
                <a:solidFill>
                  <a:srgbClr val="555E6E"/>
                </a:solidFill>
                <a:latin typeface="Arial"/>
              </a:rPr>
              <a:t>Hər gün </a:t>
            </a:r>
            <a:r>
              <a:rPr lang="az-Latn-AZ" sz="1100" dirty="0">
                <a:solidFill>
                  <a:srgbClr val="555E6E"/>
                </a:solidFill>
                <a:latin typeface="Arial"/>
              </a:rPr>
              <a:t>m</a:t>
            </a:r>
            <a:r>
              <a:rPr sz="1100" b="0" i="0" dirty="0" err="1" smtClean="0">
                <a:solidFill>
                  <a:srgbClr val="555E6E"/>
                </a:solidFill>
                <a:latin typeface="Arial"/>
              </a:rPr>
              <a:t>ilyonlarla</a:t>
            </a:r>
            <a:r>
              <a:rPr sz="1100" b="0" i="0" dirty="0" smtClean="0">
                <a:solidFill>
                  <a:srgbClr val="555E6E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555E6E"/>
                </a:solidFill>
                <a:latin typeface="Arial"/>
              </a:rPr>
              <a:t>əməliyyat</a:t>
            </a:r>
            <a:r>
              <a:rPr sz="1100" b="0" i="0" dirty="0">
                <a:solidFill>
                  <a:srgbClr val="555E6E"/>
                </a:solidFill>
                <a:latin typeface="Arial"/>
              </a:rPr>
              <a:t> və </a:t>
            </a:r>
            <a:r>
              <a:rPr sz="1100" b="0" i="0" dirty="0" err="1" smtClean="0">
                <a:solidFill>
                  <a:srgbClr val="555E6E"/>
                </a:solidFill>
                <a:latin typeface="Arial"/>
              </a:rPr>
              <a:t>hadis</a:t>
            </a:r>
            <a:r>
              <a:rPr lang="az-Latn-AZ" sz="1100" b="0" i="0" dirty="0" smtClean="0">
                <a:solidFill>
                  <a:srgbClr val="555E6E"/>
                </a:solidFill>
                <a:latin typeface="Arial"/>
              </a:rPr>
              <a:t>ə məlumatı yaranır</a:t>
            </a:r>
            <a:r>
              <a:rPr sz="1100" b="0" i="0" dirty="0" smtClean="0">
                <a:solidFill>
                  <a:srgbClr val="555E6E"/>
                </a:solidFill>
                <a:latin typeface="Arial"/>
              </a:rPr>
              <a:t>.</a:t>
            </a:r>
            <a:endParaRPr sz="1100" b="0" i="0" dirty="0">
              <a:solidFill>
                <a:srgbClr val="555E6E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11554" y="5170000"/>
            <a:ext cx="3372854" cy="7600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31554" y="5320000"/>
            <a:ext cx="2932854" cy="423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dirty="0" err="1">
                <a:solidFill>
                  <a:srgbClr val="0070C0"/>
                </a:solidFill>
                <a:latin typeface="Arial"/>
              </a:rPr>
              <a:t>Sürət</a:t>
            </a:r>
            <a:r>
              <a:rPr sz="1350" b="1" i="0" dirty="0">
                <a:solidFill>
                  <a:srgbClr val="0070C0"/>
                </a:solidFill>
                <a:latin typeface="Arial"/>
              </a:rPr>
              <a:t> (Velocity)</a:t>
            </a:r>
          </a:p>
          <a:p>
            <a:pPr>
              <a:lnSpc>
                <a:spcPct val="105000"/>
              </a:lnSpc>
            </a:pPr>
            <a:r>
              <a:rPr lang="en-US" sz="1100" dirty="0" err="1">
                <a:solidFill>
                  <a:srgbClr val="555E6E"/>
                </a:solidFill>
                <a:latin typeface="Arial"/>
              </a:rPr>
              <a:t>Məlumat</a:t>
            </a:r>
            <a:r>
              <a:rPr lang="en-US" sz="1100" dirty="0">
                <a:solidFill>
                  <a:srgbClr val="555E6E"/>
                </a:solidFill>
                <a:latin typeface="Arial"/>
              </a:rPr>
              <a:t> </a:t>
            </a:r>
            <a:r>
              <a:rPr lang="en-US" sz="1100" dirty="0" err="1">
                <a:solidFill>
                  <a:srgbClr val="555E6E"/>
                </a:solidFill>
                <a:latin typeface="Arial"/>
              </a:rPr>
              <a:t>fasiləsiz</a:t>
            </a:r>
            <a:r>
              <a:rPr lang="en-US" sz="1100" dirty="0">
                <a:solidFill>
                  <a:srgbClr val="555E6E"/>
                </a:solidFill>
                <a:latin typeface="Arial"/>
              </a:rPr>
              <a:t> və </a:t>
            </a:r>
            <a:r>
              <a:rPr lang="en-US" sz="1100" dirty="0" err="1">
                <a:solidFill>
                  <a:srgbClr val="555E6E"/>
                </a:solidFill>
                <a:latin typeface="Arial"/>
              </a:rPr>
              <a:t>yüksək</a:t>
            </a:r>
            <a:r>
              <a:rPr lang="en-US" sz="1100" dirty="0">
                <a:solidFill>
                  <a:srgbClr val="555E6E"/>
                </a:solidFill>
                <a:latin typeface="Arial"/>
              </a:rPr>
              <a:t> </a:t>
            </a:r>
            <a:r>
              <a:rPr lang="en-US" sz="1100" dirty="0" err="1">
                <a:solidFill>
                  <a:srgbClr val="555E6E"/>
                </a:solidFill>
                <a:latin typeface="Arial"/>
              </a:rPr>
              <a:t>sürətlə</a:t>
            </a:r>
            <a:r>
              <a:rPr lang="en-US" sz="1100" dirty="0">
                <a:solidFill>
                  <a:srgbClr val="555E6E"/>
                </a:solidFill>
                <a:latin typeface="Arial"/>
              </a:rPr>
              <a:t> </a:t>
            </a:r>
            <a:r>
              <a:rPr lang="en-US" sz="1100" dirty="0" err="1" smtClean="0">
                <a:solidFill>
                  <a:srgbClr val="555E6E"/>
                </a:solidFill>
                <a:latin typeface="Arial"/>
              </a:rPr>
              <a:t>yaranır</a:t>
            </a:r>
            <a:r>
              <a:rPr lang="az-Latn-AZ" sz="1100" dirty="0">
                <a:solidFill>
                  <a:srgbClr val="555E6E"/>
                </a:solidFill>
                <a:latin typeface="Arial"/>
              </a:rPr>
              <a:t>.</a:t>
            </a:r>
            <a:endParaRPr sz="1100" dirty="0">
              <a:solidFill>
                <a:srgbClr val="555E6E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64408" y="5170000"/>
            <a:ext cx="3372854" cy="7600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4408" y="5320000"/>
            <a:ext cx="2932854" cy="423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dirty="0" err="1">
                <a:solidFill>
                  <a:srgbClr val="0070C0"/>
                </a:solidFill>
                <a:latin typeface="Arial"/>
              </a:rPr>
              <a:t>Müxtəliflik</a:t>
            </a:r>
            <a:r>
              <a:rPr sz="1350" b="1" i="0" dirty="0">
                <a:solidFill>
                  <a:srgbClr val="0070C0"/>
                </a:solidFill>
                <a:latin typeface="Arial"/>
              </a:rPr>
              <a:t> (Variety)</a:t>
            </a:r>
          </a:p>
          <a:p>
            <a:pPr>
              <a:lnSpc>
                <a:spcPct val="105000"/>
              </a:lnSpc>
            </a:pPr>
            <a:r>
              <a:rPr lang="en-US" sz="1100" dirty="0" err="1">
                <a:solidFill>
                  <a:srgbClr val="555E6E"/>
                </a:solidFill>
                <a:latin typeface="Arial"/>
              </a:rPr>
              <a:t>Məlumat</a:t>
            </a:r>
            <a:r>
              <a:rPr lang="en-US" sz="1100" dirty="0">
                <a:solidFill>
                  <a:srgbClr val="555E6E"/>
                </a:solidFill>
                <a:latin typeface="Arial"/>
              </a:rPr>
              <a:t> </a:t>
            </a:r>
            <a:r>
              <a:rPr lang="en-US" sz="1100" dirty="0" err="1">
                <a:solidFill>
                  <a:srgbClr val="555E6E"/>
                </a:solidFill>
                <a:latin typeface="Arial"/>
              </a:rPr>
              <a:t>müxtəlif</a:t>
            </a:r>
            <a:r>
              <a:rPr lang="en-US" sz="1100" dirty="0">
                <a:solidFill>
                  <a:srgbClr val="555E6E"/>
                </a:solidFill>
                <a:latin typeface="Arial"/>
              </a:rPr>
              <a:t> </a:t>
            </a:r>
            <a:r>
              <a:rPr lang="en-US" sz="1100" dirty="0" err="1">
                <a:solidFill>
                  <a:srgbClr val="555E6E"/>
                </a:solidFill>
                <a:latin typeface="Arial"/>
              </a:rPr>
              <a:t>formatlarda</a:t>
            </a:r>
            <a:r>
              <a:rPr lang="en-US" sz="1100" dirty="0">
                <a:solidFill>
                  <a:srgbClr val="555E6E"/>
                </a:solidFill>
                <a:latin typeface="Arial"/>
              </a:rPr>
              <a:t> </a:t>
            </a:r>
            <a:r>
              <a:rPr lang="en-US" sz="1100" dirty="0" err="1" smtClean="0">
                <a:solidFill>
                  <a:srgbClr val="555E6E"/>
                </a:solidFill>
                <a:latin typeface="Arial"/>
              </a:rPr>
              <a:t>olur</a:t>
            </a:r>
            <a:r>
              <a:rPr lang="az-Latn-AZ" sz="1100" dirty="0" smtClean="0">
                <a:solidFill>
                  <a:srgbClr val="555E6E"/>
                </a:solidFill>
                <a:latin typeface="Arial"/>
              </a:rPr>
              <a:t>.</a:t>
            </a:r>
            <a:endParaRPr sz="1100" dirty="0">
              <a:solidFill>
                <a:srgbClr val="555E6E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70C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sse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3" name="Picture 2" descr="asset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70C0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700" y="300000"/>
            <a:ext cx="9500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0C0"/>
                </a:solidFill>
                <a:latin typeface="Arial"/>
              </a:rPr>
              <a:t>Böyük data mühəndisi olaraq istifadə etdiyimiz alətlər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700" y="88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E6E"/>
                </a:solidFill>
                <a:latin typeface="Arial"/>
              </a:rPr>
              <a:t>Məlumatı toplamaq, emal etmək, saxlamaq və komandalara çatdırmaq üçün gündəlik işlətdiyimiz əsas texnologiyalar: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8700" y="150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kaf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700" y="1720000"/>
            <a:ext cx="620000" cy="620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48700" y="245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Apache Kafka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8700" y="271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Real vaxt data axını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78700" y="150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sp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700" y="1720000"/>
            <a:ext cx="620000" cy="62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168700" y="245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Apache Spark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68700" y="271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Böyük həcmli emal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98700" y="150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air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8700" y="1720000"/>
            <a:ext cx="620000" cy="620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288700" y="245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Apache Airflow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8700" y="271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Pipeline planlaşdırma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8700" y="150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8700" y="1720000"/>
            <a:ext cx="620000" cy="620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08700" y="245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Python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8700" y="271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Skript və avtomatlaşdırma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38700" y="150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redhatopensh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8700" y="1720000"/>
            <a:ext cx="620000" cy="620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528700" y="245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OpenShift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28700" y="271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Konteyner orkestrasiyası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8700" y="397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do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8700" y="4190000"/>
            <a:ext cx="620000" cy="620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48700" y="492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Docker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8700" y="518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Tətbiqin konteynerləşdirilməsi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78700" y="397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gi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8700" y="4190000"/>
            <a:ext cx="620000" cy="620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168700" y="492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Git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68700" y="518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Versiya nəzarəti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98700" y="397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Picture 72" descr="delta_custo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8700" y="4190000"/>
            <a:ext cx="620000" cy="620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288700" y="492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Delta Lake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88700" y="518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ACID əməliyyatlı data lake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8700" y="397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min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8700" y="4190000"/>
            <a:ext cx="620000" cy="6200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08700" y="492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MinIO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8700" y="518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S3-uyğun obyekt saxlama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38700" y="3970000"/>
            <a:ext cx="1980000" cy="2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apacheparque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8700" y="4190000"/>
            <a:ext cx="620000" cy="6200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528700" y="4920000"/>
            <a:ext cx="18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F2A44"/>
                </a:solidFill>
                <a:latin typeface="Arial"/>
              </a:rPr>
              <a:t>Parquet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28700" y="5180000"/>
            <a:ext cx="180000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Arial"/>
              </a:rPr>
              <a:t>Sıxılmış sütunlu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238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Allahverdi Hajiyev</dc:creator>
  <cp:keywords/>
  <dc:description>generated using python-pptx</dc:description>
  <cp:lastModifiedBy>Allahverdi Hajiyev</cp:lastModifiedBy>
  <cp:revision>5</cp:revision>
  <dcterms:created xsi:type="dcterms:W3CDTF">2013-01-27T09:14:16Z</dcterms:created>
  <dcterms:modified xsi:type="dcterms:W3CDTF">2026-06-30T11:13:05Z</dcterms:modified>
  <cp:category/>
</cp:coreProperties>
</file>